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350" r:id="rId2"/>
    <p:sldId id="263" r:id="rId3"/>
    <p:sldId id="352" r:id="rId4"/>
    <p:sldId id="353" r:id="rId5"/>
    <p:sldId id="354" r:id="rId6"/>
    <p:sldId id="355" r:id="rId7"/>
    <p:sldId id="351" r:id="rId8"/>
  </p:sldIdLst>
  <p:sldSz cx="12192000" cy="6858000"/>
  <p:notesSz cx="6858000" cy="9144000"/>
  <p:photoAlbum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63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09"/>
    <p:restoredTop sz="94629"/>
  </p:normalViewPr>
  <p:slideViewPr>
    <p:cSldViewPr snapToGrid="0">
      <p:cViewPr varScale="1">
        <p:scale>
          <a:sx n="103" d="100"/>
          <a:sy n="103" d="100"/>
        </p:scale>
        <p:origin x="6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12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8D0DD1-295A-48FE-B535-286D180F94AC}" type="datetimeFigureOut">
              <a:rPr lang="zh-TW" altLang="en-US" smtClean="0"/>
              <a:t>2020/11/26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694C5-8FA7-4C7E-8EDD-9114DDFB13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2226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US" altLang="zh-TW" noProof="0" dirty="0"/>
              <a:t>https://</a:t>
            </a:r>
            <a:r>
              <a:rPr lang="en-US" altLang="zh-TW" noProof="0" dirty="0" err="1"/>
              <a:t>insights.stackoverflow.com</a:t>
            </a:r>
            <a:r>
              <a:rPr lang="en-US" altLang="zh-TW" noProof="0" dirty="0"/>
              <a:t>/survey/2020#most-popular-technologies</a:t>
            </a: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61EA0F-A667-4B49-8422-0062BC55E249}" type="slidenum"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0202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https://</a:t>
            </a:r>
            <a:r>
              <a:rPr kumimoji="1" lang="en-US" altLang="zh-TW" dirty="0" err="1"/>
              <a:t>www.surveycake.com</a:t>
            </a:r>
            <a:r>
              <a:rPr kumimoji="1" lang="en-US" altLang="zh-TW" dirty="0"/>
              <a:t>/s/LjGz5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694C5-8FA7-4C7E-8EDD-9114DDFB1364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8637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https://</a:t>
            </a:r>
            <a:r>
              <a:rPr kumimoji="1" lang="en-US" altLang="zh-TW" dirty="0" err="1"/>
              <a:t>www.surveycake.com</a:t>
            </a:r>
            <a:r>
              <a:rPr kumimoji="1" lang="en-US" altLang="zh-TW" dirty="0"/>
              <a:t>/s/LjGz5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694C5-8FA7-4C7E-8EDD-9114DDFB1364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3981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https://</a:t>
            </a:r>
            <a:r>
              <a:rPr kumimoji="1" lang="en-US" altLang="zh-TW" dirty="0" err="1"/>
              <a:t>www.surveycake.com</a:t>
            </a:r>
            <a:r>
              <a:rPr kumimoji="1" lang="en-US" altLang="zh-TW" dirty="0"/>
              <a:t>/s/LjGz5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694C5-8FA7-4C7E-8EDD-9114DDFB1364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0465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https://</a:t>
            </a:r>
            <a:r>
              <a:rPr kumimoji="1" lang="en-US" altLang="zh-TW" dirty="0" err="1"/>
              <a:t>www.surveycake.com</a:t>
            </a:r>
            <a:r>
              <a:rPr kumimoji="1" lang="en-US" altLang="zh-TW" dirty="0"/>
              <a:t>/s/LjGz5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694C5-8FA7-4C7E-8EDD-9114DDFB1364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9173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https://</a:t>
            </a:r>
            <a:r>
              <a:rPr kumimoji="1" lang="en-US" altLang="zh-TW" dirty="0" err="1"/>
              <a:t>www.surveycake.com</a:t>
            </a:r>
            <a:r>
              <a:rPr kumimoji="1" lang="en-US" altLang="zh-TW" dirty="0"/>
              <a:t>/s/LjGz5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694C5-8FA7-4C7E-8EDD-9114DDFB1364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6105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101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cxnSp>
        <p:nvCxnSpPr>
          <p:cNvPr id="12" name="直線接點​​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內容預留位置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TW" altLang="en-US" noProof="0"/>
              <a:t>編輯母片文字樣式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TW" altLang="en-US" noProof="0"/>
              <a:t>第二層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TW" altLang="en-US" noProof="0"/>
              <a:t>第三層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TW" altLang="en-US" noProof="0"/>
              <a:t>第四層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TW" altLang="en-US" noProof="0"/>
              <a:t>第五層</a:t>
            </a:r>
            <a:endParaRPr lang="zh-TW" altLang="en-US" noProof="0" dirty="0"/>
          </a:p>
        </p:txBody>
      </p:sp>
      <p:sp>
        <p:nvSpPr>
          <p:cNvPr id="6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24FFDF-C44B-4BC6-8CC2-3E2CCA5CBAD2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2020/11/26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7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8" name="投影片編號預留位置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60EDB8-5305-433F-BE41-D7A86D811DB3}" type="slidenum"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9263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10" name="矩形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TW" altLang="en-US" noProof="0"/>
              <a:t>編輯母片文字樣式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TW" altLang="en-US" noProof="0"/>
              <a:t>第二層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TW" altLang="en-US" noProof="0"/>
              <a:t>第三層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TW" altLang="en-US" noProof="0"/>
              <a:t>第四層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TW" altLang="en-US" noProof="0"/>
              <a:t>第五層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729107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9A7B8-0EC4-44C9-AFEF-25E144F11C06}" type="datetime1">
              <a:rPr lang="en-US" smtClean="0"/>
              <a:pPr/>
              <a:t>11/26/20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78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2" name="標題預留位置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FC83EE-73F1-46EA-BC6E-B26AE4225C74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2020/11/26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60EDB8-5305-433F-BE41-D7A86D811DB3}" type="slidenum"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cxnSp>
        <p:nvCxnSpPr>
          <p:cNvPr id="8" name="直線接點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2859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zh-TW" sz="4800" dirty="0">
                <a:solidFill>
                  <a:schemeClr val="bg1"/>
                </a:solidFill>
              </a:rPr>
              <a:t>HTML </a:t>
            </a:r>
            <a:r>
              <a:rPr lang="zh-TW" altLang="en-US" sz="4800" dirty="0">
                <a:solidFill>
                  <a:schemeClr val="bg1"/>
                </a:solidFill>
              </a:rPr>
              <a:t>表格 </a:t>
            </a:r>
            <a:r>
              <a:rPr lang="en-US" altLang="zh-TW" sz="4800" dirty="0">
                <a:solidFill>
                  <a:schemeClr val="bg1"/>
                </a:solidFill>
              </a:rPr>
              <a:t>(table)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endParaRPr lang="zh-TW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4836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11054740" cy="640080"/>
          </a:xfrm>
        </p:spPr>
        <p:txBody>
          <a:bodyPr>
            <a:noAutofit/>
          </a:bodyPr>
          <a:lstStyle/>
          <a:p>
            <a:r>
              <a:rPr lang="en-US" altLang="zh-TW" sz="4400" dirty="0">
                <a:latin typeface="Arial"/>
                <a:ea typeface="+mn-ea"/>
                <a:cs typeface="Arial"/>
              </a:rPr>
              <a:t>&lt;table&gt; </a:t>
            </a:r>
            <a:r>
              <a:rPr lang="zh-TW" altLang="en-US" sz="4400" dirty="0">
                <a:latin typeface="Arial"/>
                <a:ea typeface="+mn-ea"/>
                <a:cs typeface="Arial"/>
              </a:rPr>
              <a:t>表格</a:t>
            </a:r>
            <a:r>
              <a:rPr lang="en-US" altLang="zh-TW" sz="4400" dirty="0">
                <a:latin typeface="Arial"/>
                <a:ea typeface="+mn-ea"/>
                <a:cs typeface="Arial"/>
              </a:rPr>
              <a:t>, &lt;tr&gt; </a:t>
            </a:r>
            <a:r>
              <a:rPr lang="zh-TW" altLang="en-US" sz="4400" dirty="0">
                <a:latin typeface="Arial"/>
                <a:ea typeface="+mn-ea"/>
                <a:cs typeface="Arial"/>
              </a:rPr>
              <a:t>橫列</a:t>
            </a:r>
            <a:r>
              <a:rPr lang="en-US" altLang="zh-TW" sz="4400" dirty="0">
                <a:latin typeface="Arial"/>
                <a:ea typeface="+mn-ea"/>
                <a:cs typeface="Arial"/>
              </a:rPr>
              <a:t>, &lt;td&gt; </a:t>
            </a:r>
            <a:r>
              <a:rPr lang="zh-TW" altLang="en-US" sz="4400" dirty="0">
                <a:latin typeface="Arial"/>
                <a:ea typeface="+mn-ea"/>
                <a:cs typeface="Arial"/>
              </a:rPr>
              <a:t>直行</a:t>
            </a:r>
            <a:endParaRPr kumimoji="1" lang="zh-TW" altLang="en-US" sz="4400" dirty="0">
              <a:latin typeface="Arial"/>
              <a:ea typeface="+mn-ea"/>
              <a:cs typeface="Arial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495" y="1435608"/>
            <a:ext cx="11054741" cy="5101116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en-US" altLang="zh-TW" sz="2800" dirty="0">
                <a:solidFill>
                  <a:srgbClr val="FF0000"/>
                </a:solidFill>
                <a:latin typeface="Arial"/>
                <a:cs typeface="Arial"/>
              </a:rPr>
              <a:t>&lt;table&gt;</a:t>
            </a:r>
            <a:r>
              <a:rPr lang="en-US" altLang="zh-TW" sz="2800" dirty="0">
                <a:latin typeface="Arial"/>
                <a:cs typeface="Arial"/>
              </a:rPr>
              <a:t> </a:t>
            </a: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TW" altLang="en-US" sz="2400" dirty="0">
                <a:latin typeface="Arial"/>
                <a:cs typeface="Arial"/>
              </a:rPr>
              <a:t>用來包著整個表格的結構和內容</a:t>
            </a:r>
            <a:endParaRPr lang="en-US" altLang="zh-TW" sz="2400" dirty="0">
              <a:latin typeface="Arial"/>
              <a:cs typeface="Arial"/>
            </a:endParaRP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en-US" altLang="zh-TW" sz="2800" dirty="0">
                <a:solidFill>
                  <a:srgbClr val="FF0000"/>
                </a:solidFill>
                <a:latin typeface="Arial"/>
                <a:cs typeface="Arial"/>
              </a:rPr>
              <a:t>&lt;tr&gt; </a:t>
            </a:r>
            <a:r>
              <a:rPr lang="en-US" altLang="zh-TW" sz="2400" dirty="0">
                <a:latin typeface="Arial"/>
                <a:cs typeface="Arial"/>
              </a:rPr>
              <a:t>(table row) </a:t>
            </a:r>
          </a:p>
          <a:p>
            <a:pPr marL="1028700" lvl="2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TW" altLang="en-US" sz="2400" dirty="0">
                <a:latin typeface="Arial"/>
                <a:cs typeface="Arial"/>
              </a:rPr>
              <a:t>用來定義表格有幾個橫列 </a:t>
            </a:r>
            <a:r>
              <a:rPr lang="en-US" altLang="zh-TW" sz="2400" dirty="0">
                <a:latin typeface="Arial"/>
                <a:cs typeface="Arial"/>
              </a:rPr>
              <a:t>(row)</a:t>
            </a:r>
          </a:p>
          <a:p>
            <a:pPr marL="1028700" lvl="2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en-US" altLang="zh-TW" sz="2800" dirty="0">
                <a:solidFill>
                  <a:srgbClr val="FF0000"/>
                </a:solidFill>
                <a:latin typeface="Arial"/>
                <a:cs typeface="Arial"/>
              </a:rPr>
              <a:t>&lt;td&gt; </a:t>
            </a:r>
            <a:r>
              <a:rPr lang="en-US" altLang="zh-TW" sz="2400" dirty="0">
                <a:latin typeface="Arial"/>
                <a:cs typeface="Arial"/>
              </a:rPr>
              <a:t>(table data) </a:t>
            </a:r>
          </a:p>
          <a:p>
            <a:pPr marL="1485900" lvl="3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TW" altLang="en-US" sz="2400" dirty="0">
                <a:latin typeface="Arial"/>
                <a:cs typeface="Arial"/>
              </a:rPr>
              <a:t>用來定義表格有幾個直行 </a:t>
            </a:r>
            <a:r>
              <a:rPr lang="en-US" altLang="zh-TW" sz="2400" dirty="0">
                <a:latin typeface="Arial"/>
                <a:cs typeface="Arial"/>
              </a:rPr>
              <a:t>(</a:t>
            </a:r>
            <a:r>
              <a:rPr lang="en-US" altLang="zh-TW" sz="2400" dirty="0" err="1">
                <a:latin typeface="Arial"/>
                <a:cs typeface="Arial"/>
              </a:rPr>
              <a:t>cloumn</a:t>
            </a:r>
            <a:r>
              <a:rPr lang="en-US" altLang="zh-TW" sz="2400" dirty="0">
                <a:latin typeface="Arial"/>
                <a:cs typeface="Arial"/>
              </a:rPr>
              <a:t>)</a:t>
            </a:r>
          </a:p>
          <a:p>
            <a:pPr marL="1485900" lvl="3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TW" sz="2400" dirty="0">
                <a:latin typeface="Arial"/>
                <a:cs typeface="Arial"/>
              </a:rPr>
              <a:t>&lt;td&gt; </a:t>
            </a:r>
            <a:r>
              <a:rPr lang="zh-TW" altLang="en-US" sz="2400" dirty="0">
                <a:latin typeface="Arial"/>
                <a:cs typeface="Arial"/>
              </a:rPr>
              <a:t>裡面就是放實際儲存格的資料</a:t>
            </a:r>
            <a:endParaRPr kumimoji="1" lang="zh-TW" altLang="en-US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8909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11054740" cy="640080"/>
          </a:xfrm>
        </p:spPr>
        <p:txBody>
          <a:bodyPr>
            <a:noAutofit/>
          </a:bodyPr>
          <a:lstStyle/>
          <a:p>
            <a:r>
              <a:rPr lang="en-US" altLang="zh-TW" sz="4400" dirty="0">
                <a:latin typeface="Arial"/>
                <a:ea typeface="+mn-ea"/>
                <a:cs typeface="Arial"/>
              </a:rPr>
              <a:t>&lt;</a:t>
            </a:r>
            <a:r>
              <a:rPr lang="en-US" altLang="zh-TW" sz="4400" dirty="0" err="1">
                <a:latin typeface="Arial"/>
                <a:ea typeface="+mn-ea"/>
                <a:cs typeface="Arial"/>
              </a:rPr>
              <a:t>th</a:t>
            </a:r>
            <a:r>
              <a:rPr lang="en-US" altLang="zh-TW" sz="4400" dirty="0">
                <a:latin typeface="Arial"/>
                <a:ea typeface="+mn-ea"/>
                <a:cs typeface="Arial"/>
              </a:rPr>
              <a:t>&gt; </a:t>
            </a:r>
            <a:r>
              <a:rPr lang="zh-TW" altLang="en-US" sz="4400" dirty="0">
                <a:latin typeface="Arial"/>
                <a:ea typeface="+mn-ea"/>
                <a:cs typeface="Arial"/>
              </a:rPr>
              <a:t>欄位標題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495" y="1435608"/>
            <a:ext cx="11054741" cy="5101116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en-US" altLang="zh-TW" sz="2800" dirty="0">
                <a:solidFill>
                  <a:srgbClr val="FF0000"/>
                </a:solidFill>
                <a:latin typeface="Arial"/>
                <a:cs typeface="Arial"/>
              </a:rPr>
              <a:t>&lt;</a:t>
            </a:r>
            <a:r>
              <a:rPr lang="en-US" altLang="zh-TW" sz="2800" dirty="0" err="1">
                <a:solidFill>
                  <a:srgbClr val="FF0000"/>
                </a:solidFill>
                <a:latin typeface="Arial"/>
                <a:cs typeface="Arial"/>
              </a:rPr>
              <a:t>th</a:t>
            </a:r>
            <a:r>
              <a:rPr lang="en-US" altLang="zh-TW" sz="2800" dirty="0">
                <a:solidFill>
                  <a:srgbClr val="FF0000"/>
                </a:solidFill>
                <a:latin typeface="Arial"/>
                <a:cs typeface="Arial"/>
              </a:rPr>
              <a:t>&gt; </a:t>
            </a:r>
            <a:r>
              <a:rPr lang="en-US" altLang="zh-TW" sz="2400" dirty="0">
                <a:latin typeface="Arial"/>
                <a:cs typeface="Arial"/>
              </a:rPr>
              <a:t>(table header) </a:t>
            </a: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TW" altLang="en-US" sz="2400" dirty="0">
                <a:latin typeface="Arial"/>
                <a:cs typeface="Arial"/>
              </a:rPr>
              <a:t>用來表示表格欄位的標題</a:t>
            </a:r>
            <a:endParaRPr lang="en-US" altLang="zh-TW" sz="2400" dirty="0">
              <a:latin typeface="Arial"/>
              <a:cs typeface="Arial"/>
            </a:endParaRP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TW" sz="2400" dirty="0">
                <a:latin typeface="Arial"/>
                <a:cs typeface="Arial"/>
              </a:rPr>
              <a:t>&lt;</a:t>
            </a:r>
            <a:r>
              <a:rPr lang="en-US" altLang="zh-TW" sz="2400" dirty="0" err="1">
                <a:latin typeface="Arial"/>
                <a:cs typeface="Arial"/>
              </a:rPr>
              <a:t>th</a:t>
            </a:r>
            <a:r>
              <a:rPr lang="en-US" altLang="zh-TW" sz="2400" dirty="0">
                <a:latin typeface="Arial"/>
                <a:cs typeface="Arial"/>
              </a:rPr>
              <a:t>&gt; </a:t>
            </a:r>
            <a:r>
              <a:rPr lang="zh-TW" altLang="en-US" sz="2400" dirty="0">
                <a:latin typeface="Arial"/>
                <a:cs typeface="Arial"/>
              </a:rPr>
              <a:t>可以用來替代 </a:t>
            </a:r>
            <a:r>
              <a:rPr lang="en-US" altLang="zh-TW" sz="2400" dirty="0">
                <a:latin typeface="Arial"/>
                <a:cs typeface="Arial"/>
              </a:rPr>
              <a:t>&lt;td&gt; </a:t>
            </a:r>
            <a:r>
              <a:rPr lang="zh-TW" altLang="en-US" sz="2400" dirty="0">
                <a:latin typeface="Arial"/>
                <a:cs typeface="Arial"/>
              </a:rPr>
              <a:t>使用</a:t>
            </a:r>
            <a:endParaRPr lang="en-US" altLang="zh-TW" sz="2400" dirty="0">
              <a:latin typeface="Arial"/>
              <a:cs typeface="Arial"/>
            </a:endParaRP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TW" altLang="en-US" sz="2400" dirty="0">
                <a:latin typeface="Arial"/>
                <a:cs typeface="Arial"/>
              </a:rPr>
              <a:t>在語意上更明確的聲明這一格是一個標題</a:t>
            </a:r>
            <a:endParaRPr lang="en-US" altLang="zh-TW" sz="2400" dirty="0">
              <a:latin typeface="Arial"/>
              <a:cs typeface="Arial"/>
            </a:endParaRP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TW" altLang="en-US" sz="2400" dirty="0">
                <a:latin typeface="Arial"/>
                <a:cs typeface="Arial"/>
              </a:rPr>
              <a:t>表格標題在瀏覽器預設樣式中會顯示成粗體字</a:t>
            </a:r>
          </a:p>
        </p:txBody>
      </p:sp>
    </p:spTree>
    <p:extLst>
      <p:ext uri="{BB962C8B-B14F-4D97-AF65-F5344CB8AC3E}">
        <p14:creationId xmlns:p14="http://schemas.microsoft.com/office/powerpoint/2010/main" val="2311390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11054740" cy="640080"/>
          </a:xfrm>
        </p:spPr>
        <p:txBody>
          <a:bodyPr>
            <a:noAutofit/>
          </a:bodyPr>
          <a:lstStyle/>
          <a:p>
            <a:r>
              <a:rPr lang="zh-TW" altLang="en-US" sz="4400" dirty="0">
                <a:latin typeface="Arial"/>
                <a:ea typeface="+mn-ea"/>
                <a:cs typeface="Arial"/>
              </a:rPr>
              <a:t>合併儲存格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495" y="1435608"/>
            <a:ext cx="11054741" cy="5101116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en-US" altLang="zh-TW" sz="2800" dirty="0" err="1">
                <a:solidFill>
                  <a:srgbClr val="FF0000"/>
                </a:solidFill>
                <a:latin typeface="Arial"/>
                <a:cs typeface="Arial"/>
              </a:rPr>
              <a:t>colspan</a:t>
            </a:r>
            <a:r>
              <a:rPr lang="en-US" altLang="zh-TW" sz="28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TW" altLang="en-US" sz="2400" dirty="0">
                <a:latin typeface="Arial"/>
                <a:cs typeface="Arial"/>
              </a:rPr>
              <a:t>用來水平合併多行 </a:t>
            </a:r>
            <a:r>
              <a:rPr lang="en-US" altLang="zh-TW" sz="2400" dirty="0">
                <a:latin typeface="Arial"/>
                <a:cs typeface="Arial"/>
              </a:rPr>
              <a:t>(column) </a:t>
            </a:r>
            <a:r>
              <a:rPr lang="zh-TW" altLang="en-US" sz="2400" dirty="0">
                <a:latin typeface="Arial"/>
                <a:cs typeface="Arial"/>
              </a:rPr>
              <a:t>的儲存格</a:t>
            </a:r>
            <a:endParaRPr lang="en-US" altLang="zh-TW" sz="2400" dirty="0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TW" altLang="en-US" sz="28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zh-TW" sz="2800" dirty="0" err="1">
                <a:solidFill>
                  <a:srgbClr val="FF0000"/>
                </a:solidFill>
                <a:latin typeface="Arial"/>
                <a:cs typeface="Arial"/>
              </a:rPr>
              <a:t>rowspan</a:t>
            </a:r>
            <a:endParaRPr lang="en-US" altLang="zh-TW" sz="2400" dirty="0">
              <a:latin typeface="Arial"/>
              <a:cs typeface="Arial"/>
            </a:endParaRP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TW" altLang="en-US" sz="2400" dirty="0">
                <a:latin typeface="Arial"/>
                <a:cs typeface="Arial"/>
              </a:rPr>
              <a:t>用來垂直合併多列 </a:t>
            </a:r>
            <a:r>
              <a:rPr lang="en-US" altLang="zh-TW" sz="2400" dirty="0">
                <a:latin typeface="Arial"/>
                <a:cs typeface="Arial"/>
              </a:rPr>
              <a:t>(row) </a:t>
            </a:r>
            <a:r>
              <a:rPr lang="zh-TW" altLang="en-US" sz="2400" dirty="0">
                <a:latin typeface="Arial"/>
                <a:cs typeface="Arial"/>
              </a:rPr>
              <a:t>的儲存格</a:t>
            </a:r>
          </a:p>
        </p:txBody>
      </p:sp>
    </p:spTree>
    <p:extLst>
      <p:ext uri="{BB962C8B-B14F-4D97-AF65-F5344CB8AC3E}">
        <p14:creationId xmlns:p14="http://schemas.microsoft.com/office/powerpoint/2010/main" val="1995511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11054740" cy="640080"/>
          </a:xfrm>
        </p:spPr>
        <p:txBody>
          <a:bodyPr>
            <a:noAutofit/>
          </a:bodyPr>
          <a:lstStyle/>
          <a:p>
            <a:r>
              <a:rPr lang="zh-TW" altLang="en-US" sz="4400" dirty="0">
                <a:latin typeface="Arial"/>
                <a:ea typeface="+mn-ea"/>
                <a:cs typeface="Arial"/>
              </a:rPr>
              <a:t>表格的語意標籤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495" y="1435608"/>
            <a:ext cx="11054741" cy="5101116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en-US" altLang="zh-TW" sz="2800" dirty="0">
                <a:solidFill>
                  <a:srgbClr val="FF0000"/>
                </a:solidFill>
                <a:latin typeface="Arial"/>
                <a:cs typeface="Arial"/>
              </a:rPr>
              <a:t>&lt;</a:t>
            </a:r>
            <a:r>
              <a:rPr lang="en-US" altLang="zh-TW" sz="2800" dirty="0" err="1">
                <a:solidFill>
                  <a:srgbClr val="FF0000"/>
                </a:solidFill>
                <a:latin typeface="Arial"/>
                <a:cs typeface="Arial"/>
              </a:rPr>
              <a:t>thead</a:t>
            </a:r>
            <a:r>
              <a:rPr lang="en-US" altLang="zh-TW" sz="2800" dirty="0">
                <a:solidFill>
                  <a:srgbClr val="FF0000"/>
                </a:solidFill>
                <a:latin typeface="Arial"/>
                <a:cs typeface="Arial"/>
              </a:rPr>
              <a:t>&gt; </a:t>
            </a:r>
            <a:endParaRPr lang="en-US" altLang="zh-TW" sz="2800" dirty="0">
              <a:latin typeface="Arial"/>
              <a:cs typeface="Arial"/>
            </a:endParaRP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TW" altLang="en-US" sz="2400" dirty="0">
                <a:latin typeface="Arial"/>
                <a:cs typeface="Arial"/>
              </a:rPr>
              <a:t>表格表頭區塊</a:t>
            </a:r>
            <a:endParaRPr lang="en-US" altLang="zh-TW" sz="2400" dirty="0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en-US" altLang="zh-TW" sz="2800" dirty="0">
                <a:solidFill>
                  <a:srgbClr val="FF0000"/>
                </a:solidFill>
                <a:latin typeface="Arial"/>
                <a:cs typeface="Arial"/>
              </a:rPr>
              <a:t>&lt;</a:t>
            </a:r>
            <a:r>
              <a:rPr lang="en-US" altLang="zh-TW" sz="2800" dirty="0" err="1">
                <a:solidFill>
                  <a:srgbClr val="FF0000"/>
                </a:solidFill>
                <a:latin typeface="Arial"/>
                <a:cs typeface="Arial"/>
              </a:rPr>
              <a:t>tbody</a:t>
            </a:r>
            <a:r>
              <a:rPr lang="en-US" altLang="zh-TW" sz="2800" dirty="0">
                <a:solidFill>
                  <a:srgbClr val="FF0000"/>
                </a:solidFill>
                <a:latin typeface="Arial"/>
                <a:cs typeface="Arial"/>
              </a:rPr>
              <a:t>&gt;</a:t>
            </a:r>
            <a:endParaRPr lang="en-US" altLang="zh-TW" sz="2800" dirty="0">
              <a:latin typeface="Arial"/>
              <a:cs typeface="Arial"/>
            </a:endParaRP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TW" altLang="en-US" sz="2400" dirty="0">
                <a:latin typeface="Arial"/>
                <a:cs typeface="Arial"/>
              </a:rPr>
              <a:t>表格主要內容區塊</a:t>
            </a:r>
            <a:endParaRPr lang="en-US" altLang="zh-TW" sz="2400" dirty="0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en-US" altLang="zh-TW" sz="2800" dirty="0">
                <a:solidFill>
                  <a:srgbClr val="FF0000"/>
                </a:solidFill>
                <a:latin typeface="Arial"/>
                <a:cs typeface="Arial"/>
              </a:rPr>
              <a:t>&lt;</a:t>
            </a:r>
            <a:r>
              <a:rPr lang="en-US" altLang="zh-TW" sz="2800" dirty="0" err="1">
                <a:solidFill>
                  <a:srgbClr val="FF0000"/>
                </a:solidFill>
                <a:latin typeface="Arial"/>
                <a:cs typeface="Arial"/>
              </a:rPr>
              <a:t>tfoot</a:t>
            </a:r>
            <a:r>
              <a:rPr lang="en-US" altLang="zh-TW" sz="2800" dirty="0">
                <a:solidFill>
                  <a:srgbClr val="FF0000"/>
                </a:solidFill>
                <a:latin typeface="Arial"/>
                <a:cs typeface="Arial"/>
              </a:rPr>
              <a:t>&gt;</a:t>
            </a:r>
            <a:endParaRPr lang="en-US" altLang="zh-TW" sz="2400" dirty="0">
              <a:latin typeface="Arial"/>
              <a:cs typeface="Arial"/>
            </a:endParaRP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TW" altLang="en-US" sz="2400" dirty="0">
                <a:latin typeface="Arial"/>
                <a:cs typeface="Arial"/>
              </a:rPr>
              <a:t>表格頁腳區塊</a:t>
            </a:r>
          </a:p>
        </p:txBody>
      </p:sp>
    </p:spTree>
    <p:extLst>
      <p:ext uri="{BB962C8B-B14F-4D97-AF65-F5344CB8AC3E}">
        <p14:creationId xmlns:p14="http://schemas.microsoft.com/office/powerpoint/2010/main" val="2476882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11054740" cy="640080"/>
          </a:xfrm>
        </p:spPr>
        <p:txBody>
          <a:bodyPr>
            <a:noAutofit/>
          </a:bodyPr>
          <a:lstStyle/>
          <a:p>
            <a:r>
              <a:rPr lang="zh-TW" altLang="en-US" sz="4400" dirty="0">
                <a:latin typeface="Arial"/>
                <a:ea typeface="+mn-ea"/>
                <a:cs typeface="Arial"/>
              </a:rPr>
              <a:t>表格的標題標籤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495" y="1435608"/>
            <a:ext cx="11054741" cy="5101116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en-US" altLang="zh-TW" sz="2800" dirty="0">
                <a:solidFill>
                  <a:srgbClr val="FF0000"/>
                </a:solidFill>
                <a:latin typeface="Arial"/>
                <a:cs typeface="Arial"/>
              </a:rPr>
              <a:t>&lt;caption&gt; </a:t>
            </a:r>
          </a:p>
          <a:p>
            <a:pPr marL="685800" lvl="1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TW" altLang="en-US" sz="2400" dirty="0">
                <a:latin typeface="Arial"/>
                <a:cs typeface="Arial"/>
              </a:rPr>
              <a:t>放在 </a:t>
            </a:r>
            <a:r>
              <a:rPr lang="en-US" altLang="zh-TW" sz="2400" dirty="0">
                <a:latin typeface="Arial"/>
                <a:cs typeface="Arial"/>
              </a:rPr>
              <a:t>&lt;table&gt; </a:t>
            </a:r>
            <a:r>
              <a:rPr lang="zh-TW" altLang="en-US" sz="2400" dirty="0">
                <a:latin typeface="Arial"/>
                <a:cs typeface="Arial"/>
              </a:rPr>
              <a:t>中最前面的第一個標籤</a:t>
            </a:r>
            <a:endParaRPr lang="en-US" altLang="zh-TW" sz="2400" dirty="0">
              <a:latin typeface="Arial"/>
              <a:cs typeface="Arial"/>
            </a:endParaRPr>
          </a:p>
          <a:p>
            <a:pPr marL="685800" lvl="1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TW" altLang="en-US" sz="2400" dirty="0">
                <a:latin typeface="Arial"/>
                <a:cs typeface="Arial"/>
              </a:rPr>
              <a:t>用來說明表格的標題</a:t>
            </a:r>
            <a:endParaRPr lang="en-US" altLang="zh-TW" sz="2400" dirty="0">
              <a:latin typeface="Arial"/>
              <a:cs typeface="Arial"/>
            </a:endParaRPr>
          </a:p>
          <a:p>
            <a:pPr marL="685800" lvl="1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TW" altLang="en-US" sz="2400" dirty="0">
                <a:latin typeface="Arial"/>
                <a:cs typeface="Arial"/>
              </a:rPr>
              <a:t>一個表格只能有一個標題</a:t>
            </a:r>
          </a:p>
        </p:txBody>
      </p:sp>
    </p:spTree>
    <p:extLst>
      <p:ext uri="{BB962C8B-B14F-4D97-AF65-F5344CB8AC3E}">
        <p14:creationId xmlns:p14="http://schemas.microsoft.com/office/powerpoint/2010/main" val="285789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4400" dirty="0">
                <a:latin typeface="Arial"/>
                <a:ea typeface="+mn-ea"/>
                <a:cs typeface="Arial"/>
              </a:rPr>
              <a:t>不要使用表格排版</a:t>
            </a:r>
            <a:endParaRPr kumimoji="1" lang="zh-TW" altLang="en-US" sz="4400" dirty="0">
              <a:latin typeface="Arial"/>
              <a:ea typeface="+mn-ea"/>
              <a:cs typeface="Arial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495" y="1435608"/>
            <a:ext cx="11054741" cy="5101116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TW" altLang="en-US" sz="2400" dirty="0">
                <a:latin typeface="Arial"/>
                <a:cs typeface="Arial"/>
              </a:rPr>
              <a:t>表格排版會減少對視障使用者的輔助 </a:t>
            </a:r>
            <a:endParaRPr lang="en-US" altLang="zh-TW" sz="2400" dirty="0">
              <a:latin typeface="Arial"/>
              <a:cs typeface="Arial"/>
            </a:endParaRP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TW" altLang="en-US" sz="2000" dirty="0">
                <a:latin typeface="Arial"/>
                <a:cs typeface="Arial"/>
              </a:rPr>
              <a:t>視障者使用的螢幕閱讀器會翻譯存在於</a:t>
            </a:r>
            <a:r>
              <a:rPr lang="en-US" altLang="zh-TW" sz="2000" dirty="0">
                <a:latin typeface="Arial"/>
                <a:cs typeface="Arial"/>
              </a:rPr>
              <a:t>HTML</a:t>
            </a:r>
            <a:r>
              <a:rPr lang="zh-TW" altLang="en-US" sz="2000" dirty="0">
                <a:latin typeface="Arial"/>
                <a:cs typeface="Arial"/>
              </a:rPr>
              <a:t>網頁的標籤並對使用者念出內容。由於表格並不是正確的排版工具，並且標示方式遠複雜於</a:t>
            </a:r>
            <a:r>
              <a:rPr lang="en-US" altLang="zh-TW" sz="2000" dirty="0">
                <a:latin typeface="Arial"/>
                <a:cs typeface="Arial"/>
              </a:rPr>
              <a:t>CSS</a:t>
            </a:r>
            <a:r>
              <a:rPr lang="zh-TW" altLang="en-US" sz="2000" dirty="0">
                <a:latin typeface="Arial"/>
                <a:cs typeface="Arial"/>
              </a:rPr>
              <a:t>排版技術，所以螢幕閱讀器輸出的內容會使他們的使用者感到困惑。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TW" altLang="en-US" sz="2400" dirty="0">
                <a:latin typeface="Arial"/>
                <a:cs typeface="Arial"/>
              </a:rPr>
              <a:t>表格會產生標籤雜燴</a:t>
            </a:r>
            <a:r>
              <a:rPr lang="en-US" altLang="zh-TW" sz="2400" dirty="0">
                <a:latin typeface="Arial"/>
                <a:cs typeface="Arial"/>
              </a:rPr>
              <a:t>(tag soup)</a:t>
            </a: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TW" altLang="en-US" sz="2000" dirty="0">
                <a:latin typeface="Arial"/>
                <a:cs typeface="Arial"/>
              </a:rPr>
              <a:t>就像上面提到的，表格排版通常會比一般適當的輸出技術包含更複雜的標籤結構。這會導致程式碼本身更難撰寫、維護及</a:t>
            </a:r>
            <a:r>
              <a:rPr lang="en-US" altLang="zh-TW" sz="2000" dirty="0">
                <a:latin typeface="Arial"/>
                <a:cs typeface="Arial"/>
              </a:rPr>
              <a:t>debug</a:t>
            </a:r>
            <a:r>
              <a:rPr lang="zh-TW" altLang="en-US" sz="2000" dirty="0">
                <a:latin typeface="Arial"/>
                <a:cs typeface="Arial"/>
              </a:rPr>
              <a:t>。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TW" altLang="en-US" sz="2400" dirty="0">
                <a:latin typeface="Arial"/>
                <a:cs typeface="Arial"/>
              </a:rPr>
              <a:t>表格不會自適應</a:t>
            </a:r>
            <a:r>
              <a:rPr lang="en-US" altLang="zh-TW" sz="2400" dirty="0">
                <a:latin typeface="Arial"/>
                <a:cs typeface="Arial"/>
              </a:rPr>
              <a:t>(automatically responsive)</a:t>
            </a: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TW" altLang="en-US" sz="2000" dirty="0">
                <a:latin typeface="Arial"/>
                <a:cs typeface="Arial"/>
              </a:rPr>
              <a:t>當你使用合適的排版容器</a:t>
            </a:r>
            <a:r>
              <a:rPr lang="en-US" altLang="zh-TW" sz="2000" dirty="0">
                <a:latin typeface="Arial"/>
                <a:cs typeface="Arial"/>
              </a:rPr>
              <a:t>(</a:t>
            </a:r>
            <a:r>
              <a:rPr lang="zh-TW" altLang="en-US" sz="2000" dirty="0">
                <a:latin typeface="Arial"/>
                <a:cs typeface="Arial"/>
              </a:rPr>
              <a:t>像是</a:t>
            </a:r>
            <a:r>
              <a:rPr lang="en-US" altLang="zh-TW" sz="2000" dirty="0">
                <a:latin typeface="Arial"/>
                <a:cs typeface="Arial"/>
              </a:rPr>
              <a:t>&lt;header&gt;, &lt;section&gt; </a:t>
            </a:r>
            <a:r>
              <a:rPr lang="zh-TW" altLang="en-US" sz="2000" dirty="0">
                <a:latin typeface="Arial"/>
                <a:cs typeface="Arial"/>
              </a:rPr>
              <a:t>或是 </a:t>
            </a:r>
            <a:r>
              <a:rPr lang="en-US" altLang="zh-TW" sz="2000" dirty="0">
                <a:latin typeface="Arial"/>
                <a:cs typeface="Arial"/>
              </a:rPr>
              <a:t>&lt;div&gt;)</a:t>
            </a:r>
            <a:r>
              <a:rPr lang="zh-TW" altLang="en-US" sz="2000" dirty="0">
                <a:latin typeface="Arial"/>
                <a:cs typeface="Arial"/>
              </a:rPr>
              <a:t>，它們的寬度相對於父層預設為</a:t>
            </a:r>
            <a:r>
              <a:rPr lang="en-US" altLang="zh-TW" sz="2000" dirty="0">
                <a:latin typeface="Arial"/>
                <a:cs typeface="Arial"/>
              </a:rPr>
              <a:t>100%</a:t>
            </a:r>
            <a:r>
              <a:rPr lang="zh-TW" altLang="en-US" sz="2000" dirty="0">
                <a:latin typeface="Arial"/>
                <a:cs typeface="Arial"/>
              </a:rPr>
              <a:t>，而表格的預設大小是依據它們的內容物，所以當表格樣式要有效的在不同的裝置之間運行時，會需要做額外的測量調整。</a:t>
            </a:r>
            <a:endParaRPr kumimoji="1" lang="zh-TW" altLang="en-US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7540950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715132_TF10001108.potx" id="{2936D2D2-BC60-48FB-9A7C-05EC47E6CC79}" vid="{78682B59-A957-44C7-AAB7-10BBFA6A1ABE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1182</TotalTime>
  <Words>481</Words>
  <Application>Microsoft Macintosh PowerPoint</Application>
  <PresentationFormat>寬螢幕</PresentationFormat>
  <Paragraphs>51</Paragraphs>
  <Slides>7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Microsoft JhengHei UI</vt:lpstr>
      <vt:lpstr>Arial</vt:lpstr>
      <vt:lpstr>Calibri</vt:lpstr>
      <vt:lpstr>Wingdings</vt:lpstr>
      <vt:lpstr>WelcomeDoc</vt:lpstr>
      <vt:lpstr>HTML 表格 (table)</vt:lpstr>
      <vt:lpstr>&lt;table&gt; 表格, &lt;tr&gt; 橫列, &lt;td&gt; 直行</vt:lpstr>
      <vt:lpstr>&lt;th&gt; 欄位標題</vt:lpstr>
      <vt:lpstr>合併儲存格</vt:lpstr>
      <vt:lpstr>表格的語意標籤</vt:lpstr>
      <vt:lpstr>表格的標題標籤</vt:lpstr>
      <vt:lpstr>不要使用表格排版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激發靈感的 50 套網頁配色方案</dc:title>
  <dc:creator>亞東技術學院資管系</dc:creator>
  <cp:lastModifiedBy>研究發展處 研究與產學合作組 葉乙璇組長</cp:lastModifiedBy>
  <cp:revision>90</cp:revision>
  <dcterms:created xsi:type="dcterms:W3CDTF">2020-03-15T14:10:10Z</dcterms:created>
  <dcterms:modified xsi:type="dcterms:W3CDTF">2020-11-26T13:22:41Z</dcterms:modified>
</cp:coreProperties>
</file>