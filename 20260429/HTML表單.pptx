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0"/>
  </p:notesMasterIdLst>
  <p:sldIdLst>
    <p:sldId id="350" r:id="rId2"/>
    <p:sldId id="263" r:id="rId3"/>
    <p:sldId id="352" r:id="rId4"/>
    <p:sldId id="359" r:id="rId5"/>
    <p:sldId id="360" r:id="rId6"/>
    <p:sldId id="356" r:id="rId7"/>
    <p:sldId id="357" r:id="rId8"/>
    <p:sldId id="358" r:id="rId9"/>
  </p:sldIdLst>
  <p:sldSz cx="12192000" cy="6858000"/>
  <p:notesSz cx="6858000" cy="9144000"/>
  <p:photoAlbum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C637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09"/>
    <p:restoredTop sz="94629"/>
  </p:normalViewPr>
  <p:slideViewPr>
    <p:cSldViewPr snapToGrid="0">
      <p:cViewPr varScale="1">
        <p:scale>
          <a:sx n="103" d="100"/>
          <a:sy n="103" d="100"/>
        </p:scale>
        <p:origin x="6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-12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68D0DD1-295A-48FE-B535-286D180F94AC}" type="datetimeFigureOut">
              <a:rPr lang="zh-TW" altLang="en-US" smtClean="0"/>
              <a:t>2020/11/26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1694C5-8FA7-4C7E-8EDD-9114DDFB136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122262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預留位置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r>
              <a:rPr lang="en-US" altLang="zh-TW" noProof="0" dirty="0"/>
              <a:t>https://</a:t>
            </a:r>
            <a:r>
              <a:rPr lang="en-US" altLang="zh-TW" noProof="0" dirty="0" err="1"/>
              <a:t>insights.stackoverflow.com</a:t>
            </a:r>
            <a:r>
              <a:rPr lang="en-US" altLang="zh-TW" noProof="0" dirty="0"/>
              <a:t>/survey/2020#most-popular-technologies</a:t>
            </a:r>
          </a:p>
        </p:txBody>
      </p:sp>
      <p:sp>
        <p:nvSpPr>
          <p:cNvPr id="4" name="投影片編號預留位置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DF61EA0F-A667-4B49-8422-0062BC55E249}" type="slidenum"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30202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https://</a:t>
            </a:r>
            <a:r>
              <a:rPr kumimoji="1" lang="en-US" altLang="zh-TW" dirty="0" err="1"/>
              <a:t>www.surveycake.com</a:t>
            </a:r>
            <a:r>
              <a:rPr kumimoji="1" lang="en-US" altLang="zh-TW" dirty="0"/>
              <a:t>/s/LjGz5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694C5-8FA7-4C7E-8EDD-9114DDFB1364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88637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https://</a:t>
            </a:r>
            <a:r>
              <a:rPr kumimoji="1" lang="en-US" altLang="zh-TW" dirty="0" err="1"/>
              <a:t>www.surveycake.com</a:t>
            </a:r>
            <a:r>
              <a:rPr kumimoji="1" lang="en-US" altLang="zh-TW" dirty="0"/>
              <a:t>/s/LjGz5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694C5-8FA7-4C7E-8EDD-9114DDFB1364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439811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https://</a:t>
            </a:r>
            <a:r>
              <a:rPr kumimoji="1" lang="en-US" altLang="zh-TW" dirty="0" err="1"/>
              <a:t>www.surveycake.com</a:t>
            </a:r>
            <a:r>
              <a:rPr kumimoji="1" lang="en-US" altLang="zh-TW" dirty="0"/>
              <a:t>/s/LjGz5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694C5-8FA7-4C7E-8EDD-9114DDFB1364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807183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https://</a:t>
            </a:r>
            <a:r>
              <a:rPr kumimoji="1" lang="en-US" altLang="zh-TW" dirty="0" err="1"/>
              <a:t>www.surveycake.com</a:t>
            </a:r>
            <a:r>
              <a:rPr kumimoji="1" lang="en-US" altLang="zh-TW" dirty="0"/>
              <a:t>/s/LjGz5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694C5-8FA7-4C7E-8EDD-9114DDFB1364}" type="slidenum">
              <a:rPr lang="zh-TW" altLang="en-US" smtClean="0"/>
              <a:t>5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76612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https://</a:t>
            </a:r>
            <a:r>
              <a:rPr kumimoji="1" lang="en-US" altLang="zh-TW" dirty="0" err="1"/>
              <a:t>www.surveycake.com</a:t>
            </a:r>
            <a:r>
              <a:rPr kumimoji="1" lang="en-US" altLang="zh-TW" dirty="0"/>
              <a:t>/s/LjGz5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694C5-8FA7-4C7E-8EDD-9114DDFB1364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0529401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https://</a:t>
            </a:r>
            <a:r>
              <a:rPr kumimoji="1" lang="en-US" altLang="zh-TW" dirty="0" err="1"/>
              <a:t>www.surveycake.com</a:t>
            </a:r>
            <a:r>
              <a:rPr kumimoji="1" lang="en-US" altLang="zh-TW" dirty="0"/>
              <a:t>/s/LjGz5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694C5-8FA7-4C7E-8EDD-9114DDFB1364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620669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-US" altLang="zh-TW" dirty="0"/>
              <a:t>https://</a:t>
            </a:r>
            <a:r>
              <a:rPr kumimoji="1" lang="en-US" altLang="zh-TW" dirty="0" err="1"/>
              <a:t>www.surveycake.com</a:t>
            </a:r>
            <a:r>
              <a:rPr kumimoji="1" lang="en-US" altLang="zh-TW" dirty="0"/>
              <a:t>/s/LjGz5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1694C5-8FA7-4C7E-8EDD-9114DDFB1364}" type="slidenum">
              <a:rPr lang="zh-TW" altLang="en-US" smtClean="0"/>
              <a:t>8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344896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6101692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cxnSp>
        <p:nvCxnSpPr>
          <p:cNvPr id="12" name="直線接點​​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標題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3" name="內容預留位置 2"/>
          <p:cNvSpPr>
            <a:spLocks noGrp="1"/>
          </p:cNvSpPr>
          <p:nvPr>
            <p:ph sz="quarter" idx="10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編輯母片文字樣式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第二層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第三層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第四層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第五層</a:t>
            </a:r>
            <a:endParaRPr lang="zh-TW" altLang="en-US" noProof="0" dirty="0"/>
          </a:p>
        </p:txBody>
      </p:sp>
      <p:sp>
        <p:nvSpPr>
          <p:cNvPr id="6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B24FFDF-C44B-4BC6-8CC2-3E2CCA5CBAD2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2020/11/26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7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8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60EDB8-5305-433F-BE41-D7A86D811DB3}" type="slidenum"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9263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10" name="矩形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rtl="0"/>
            <a:r>
              <a:rPr lang="zh-TW" altLang="en-US" noProof="0"/>
              <a:t>按一下以編輯母片標題樣式</a:t>
            </a:r>
            <a:endParaRPr lang="zh-TW" altLang="en-US" noProof="0" dirty="0"/>
          </a:p>
        </p:txBody>
      </p:sp>
      <p:sp>
        <p:nvSpPr>
          <p:cNvPr id="7" name="內容版面配置區 6"/>
          <p:cNvSpPr>
            <a:spLocks noGrp="1"/>
          </p:cNvSpPr>
          <p:nvPr>
            <p:ph sz="quarter" idx="13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編輯母片文字樣式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第二層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第三層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第四層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zh-TW" altLang="en-US" noProof="0"/>
              <a:t>第五層</a:t>
            </a:r>
            <a:endParaRPr lang="zh-TW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272910717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59A7B8-0EC4-44C9-AFEF-25E144F11C06}" type="datetime1">
              <a:rPr lang="en-US" smtClean="0"/>
              <a:pPr/>
              <a:t>11/26/20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84A37A-AFC2-4A01-80A1-FC20F2C0D5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2789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2" name="標題預留位置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zh-TW" altLang="en-US" noProof="0" dirty="0"/>
              <a:t>按一下以編輯母片標題樣式</a:t>
            </a:r>
          </a:p>
        </p:txBody>
      </p:sp>
      <p:sp>
        <p:nvSpPr>
          <p:cNvPr id="3" name="文字預留位置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zh-TW" altLang="en-US" noProof="0" dirty="0"/>
              <a:t>按一下以編輯母片文字樣式</a:t>
            </a:r>
          </a:p>
          <a:p>
            <a:pPr lvl="1" rtl="0"/>
            <a:r>
              <a:rPr lang="zh-TW" altLang="en-US" noProof="0" dirty="0"/>
              <a:t>第二層</a:t>
            </a:r>
          </a:p>
          <a:p>
            <a:pPr lvl="2" rtl="0"/>
            <a:r>
              <a:rPr lang="zh-TW" altLang="en-US" noProof="0" dirty="0"/>
              <a:t>第三層</a:t>
            </a:r>
          </a:p>
          <a:p>
            <a:pPr lvl="3" rtl="0"/>
            <a:r>
              <a:rPr lang="zh-TW" altLang="en-US" noProof="0" dirty="0"/>
              <a:t>第四層</a:t>
            </a:r>
          </a:p>
          <a:p>
            <a:pPr lvl="4" rtl="0"/>
            <a:r>
              <a:rPr lang="zh-TW" altLang="en-US" noProof="0" dirty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0FC83EE-73F1-46EA-BC6E-B26AE4225C74}" type="datetime1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2020/11/26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sp>
        <p:nvSpPr>
          <p:cNvPr id="6" name="投影片編號預留位置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Microsoft JhengHei UI" panose="020B0604030504040204" pitchFamily="34" charset="-120"/>
                <a:ea typeface="Microsoft JhengHei UI" panose="020B0604030504040204" pitchFamily="34" charset="-120"/>
              </a:defRPr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860EDB8-5305-433F-BE41-D7A86D811DB3}" type="slidenum">
              <a:rPr kumimoji="0" lang="en-US" altLang="zh-TW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Microsoft JhengHei UI" panose="020B0604030504040204" pitchFamily="34" charset="-120"/>
                <a:ea typeface="Microsoft JhengHei UI" panose="020B0604030504040204" pitchFamily="34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zh-TW" alt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crosoft JhengHei UI" panose="020B0604030504040204" pitchFamily="34" charset="-120"/>
              <a:ea typeface="Microsoft JhengHei UI" panose="020B0604030504040204" pitchFamily="34" charset="-120"/>
              <a:cs typeface="+mn-cs"/>
            </a:endParaRPr>
          </a:p>
        </p:txBody>
      </p:sp>
      <p:cxnSp>
        <p:nvCxnSpPr>
          <p:cNvPr id="8" name="直線接點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2859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</p:sldLayoutIdLst>
  <p:hf sldNum="0" hdr="0" ftr="0" dt="0"/>
  <p:txStyles>
    <p:titleStyle>
      <a:lvl1pPr algn="l" defTabSz="914400" rtl="0" eaLnBrk="1" latinLnBrk="0" hangingPunct="1">
        <a:spcBef>
          <a:spcPct val="0"/>
        </a:spcBef>
        <a:buNone/>
        <a:defRPr sz="2800" kern="120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j-cs"/>
        </a:defRPr>
      </a:lvl1pPr>
    </p:titleStyle>
    <p:bodyStyle>
      <a:lvl1pPr marL="0" indent="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1pPr>
      <a:lvl2pPr marL="228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2pPr>
      <a:lvl3pPr marL="685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3pPr>
      <a:lvl4pPr marL="11430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4pPr>
      <a:lvl5pPr marL="16002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Microsoft JhengHei UI" panose="020B0604030504040204" pitchFamily="34" charset="-120"/>
          <a:ea typeface="Microsoft JhengHei UI" panose="020B0604030504040204" pitchFamily="34" charset="-120"/>
          <a:cs typeface="+mn-cs"/>
        </a:defRPr>
      </a:lvl5pPr>
      <a:lvl6pPr marL="20574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0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838200" y="1164324"/>
            <a:ext cx="10515600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zh-TW" sz="4800" dirty="0">
                <a:solidFill>
                  <a:schemeClr val="bg1"/>
                </a:solidFill>
              </a:rPr>
              <a:t>HTML </a:t>
            </a:r>
            <a:r>
              <a:rPr lang="zh-TW" altLang="en-US" sz="4800" dirty="0">
                <a:solidFill>
                  <a:schemeClr val="bg1"/>
                </a:solidFill>
              </a:rPr>
              <a:t>表單 </a:t>
            </a:r>
            <a:r>
              <a:rPr lang="en-US" altLang="zh-TW" sz="4800" dirty="0">
                <a:solidFill>
                  <a:schemeClr val="bg1"/>
                </a:solidFill>
              </a:rPr>
              <a:t>(form)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4294967295"/>
          </p:nvPr>
        </p:nvSpPr>
        <p:spPr>
          <a:xfrm>
            <a:off x="855620" y="2933105"/>
            <a:ext cx="9582736" cy="1137793"/>
          </a:xfrm>
        </p:spPr>
        <p:txBody>
          <a:bodyPr rtlCol="0">
            <a:normAutofit fontScale="85000" lnSpcReduction="10000"/>
          </a:bodyPr>
          <a:lstStyle/>
          <a:p>
            <a:r>
              <a:rPr lang="en-US" altLang="zh-TW" sz="2400" dirty="0">
                <a:solidFill>
                  <a:schemeClr val="bg1"/>
                </a:solidFill>
              </a:rPr>
              <a:t>HTML </a:t>
            </a:r>
            <a:r>
              <a:rPr lang="zh-TW" altLang="en-US" sz="2400" dirty="0">
                <a:solidFill>
                  <a:schemeClr val="bg1"/>
                </a:solidFill>
              </a:rPr>
              <a:t>表單 </a:t>
            </a:r>
            <a:r>
              <a:rPr lang="en-US" altLang="zh-TW" sz="2400" dirty="0">
                <a:solidFill>
                  <a:schemeClr val="bg1"/>
                </a:solidFill>
              </a:rPr>
              <a:t>(form) </a:t>
            </a:r>
            <a:r>
              <a:rPr lang="zh-TW" altLang="en-US" sz="2400" dirty="0">
                <a:solidFill>
                  <a:schemeClr val="bg1"/>
                </a:solidFill>
              </a:rPr>
              <a:t>是用來讓使用者輸入資料，這些資料可以用來和使用者互動，例如表單內容填完後可以傳回遠端伺服器 </a:t>
            </a:r>
            <a:r>
              <a:rPr lang="en-US" altLang="zh-TW" sz="2400" dirty="0">
                <a:solidFill>
                  <a:schemeClr val="bg1"/>
                </a:solidFill>
              </a:rPr>
              <a:t>(web server)</a:t>
            </a:r>
            <a:r>
              <a:rPr lang="zh-TW" altLang="en-US" sz="2400" dirty="0">
                <a:solidFill>
                  <a:schemeClr val="bg1"/>
                </a:solidFill>
              </a:rPr>
              <a:t>，像常見的連絡表單。</a:t>
            </a:r>
          </a:p>
          <a:p>
            <a:endParaRPr lang="zh-TW" altLang="en-US" sz="2400" dirty="0">
              <a:solidFill>
                <a:schemeClr val="bg1"/>
              </a:solidFill>
            </a:endParaRPr>
          </a:p>
          <a:p>
            <a:endParaRPr lang="zh-TW" alt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48362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054740" cy="640080"/>
          </a:xfrm>
        </p:spPr>
        <p:txBody>
          <a:bodyPr>
            <a:noAutofit/>
          </a:bodyPr>
          <a:lstStyle/>
          <a:p>
            <a:r>
              <a:rPr lang="en-US" altLang="zh-TW" sz="4400" dirty="0">
                <a:latin typeface="Arial"/>
                <a:ea typeface="+mn-ea"/>
                <a:cs typeface="Arial"/>
              </a:rPr>
              <a:t>&lt;form&gt; </a:t>
            </a:r>
            <a:r>
              <a:rPr lang="zh-TW" altLang="en-US" sz="4400" dirty="0">
                <a:latin typeface="Arial"/>
                <a:ea typeface="+mn-ea"/>
                <a:cs typeface="Arial"/>
              </a:rPr>
              <a:t>標籤 </a:t>
            </a:r>
            <a:r>
              <a:rPr lang="en-US" altLang="zh-TW" sz="4400" dirty="0">
                <a:latin typeface="Arial"/>
                <a:ea typeface="+mn-ea"/>
                <a:cs typeface="Arial"/>
              </a:rPr>
              <a:t>(tag)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495" y="1435608"/>
            <a:ext cx="11054741" cy="5101116"/>
          </a:xfrm>
        </p:spPr>
        <p:txBody>
          <a:bodyPr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u"/>
            </a:pPr>
            <a:r>
              <a:rPr lang="zh-TW" altLang="en-US" sz="2800" dirty="0">
                <a:latin typeface="Arial"/>
                <a:cs typeface="Arial"/>
              </a:rPr>
              <a:t>用來建立一個 </a:t>
            </a:r>
            <a:r>
              <a:rPr lang="en-US" altLang="zh-TW" sz="2800" dirty="0">
                <a:latin typeface="Arial"/>
                <a:cs typeface="Arial"/>
              </a:rPr>
              <a:t>HTML </a:t>
            </a:r>
            <a:r>
              <a:rPr lang="zh-TW" altLang="en-US" sz="2800" dirty="0">
                <a:latin typeface="Arial"/>
                <a:cs typeface="Arial"/>
              </a:rPr>
              <a:t>表單</a:t>
            </a:r>
            <a:endParaRPr lang="en-US" altLang="zh-TW" sz="2800" dirty="0">
              <a:latin typeface="Arial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u"/>
            </a:pPr>
            <a:r>
              <a:rPr lang="en-US" altLang="zh-TW" sz="2800" dirty="0">
                <a:latin typeface="Arial"/>
                <a:cs typeface="Arial"/>
              </a:rPr>
              <a:t>&lt;form&gt; </a:t>
            </a:r>
            <a:r>
              <a:rPr lang="zh-TW" altLang="en-US" sz="2800" dirty="0">
                <a:latin typeface="Arial"/>
                <a:cs typeface="Arial"/>
              </a:rPr>
              <a:t>做為表單的容器</a:t>
            </a:r>
            <a:endParaRPr lang="en-US" altLang="zh-TW" sz="2800" dirty="0">
              <a:latin typeface="Arial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u"/>
            </a:pPr>
            <a:r>
              <a:rPr lang="zh-TW" altLang="en-US" sz="2800" dirty="0">
                <a:latin typeface="Arial"/>
                <a:cs typeface="Arial"/>
              </a:rPr>
              <a:t>表單裡面還會有不同用途的其他標籤來建構出完整的表單內容</a:t>
            </a:r>
            <a:endParaRPr kumimoji="1" lang="zh-TW" altLang="en-US" sz="28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8909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054740" cy="640080"/>
          </a:xfrm>
        </p:spPr>
        <p:txBody>
          <a:bodyPr>
            <a:noAutofit/>
          </a:bodyPr>
          <a:lstStyle/>
          <a:p>
            <a:r>
              <a:rPr lang="en-US" altLang="zh-TW" sz="4400" dirty="0">
                <a:latin typeface="Arial"/>
                <a:ea typeface="+mn-ea"/>
                <a:cs typeface="Arial"/>
              </a:rPr>
              <a:t>HTML </a:t>
            </a:r>
            <a:r>
              <a:rPr lang="zh-TW" altLang="en-US" sz="4400" dirty="0">
                <a:latin typeface="Arial"/>
                <a:ea typeface="+mn-ea"/>
                <a:cs typeface="Arial"/>
              </a:rPr>
              <a:t>表單元素</a:t>
            </a:r>
            <a:r>
              <a:rPr lang="en-US" altLang="zh-TW" sz="4400" dirty="0">
                <a:latin typeface="Arial"/>
                <a:ea typeface="+mn-ea"/>
                <a:cs typeface="Arial"/>
              </a:rPr>
              <a:t> - &lt;input&gt;</a:t>
            </a:r>
            <a:endParaRPr lang="zh-TW" altLang="en-US" sz="4400" dirty="0">
              <a:latin typeface="Arial"/>
              <a:ea typeface="+mn-ea"/>
              <a:cs typeface="Arial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495" y="1435608"/>
            <a:ext cx="11054741" cy="5101116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u"/>
            </a:pPr>
            <a:r>
              <a:rPr lang="zh-TW" altLang="en-US" sz="2800" dirty="0">
                <a:latin typeface="Arial"/>
                <a:cs typeface="Arial"/>
              </a:rPr>
              <a:t>用 </a:t>
            </a:r>
            <a:r>
              <a:rPr lang="en-US" altLang="zh-TW" sz="2800" dirty="0">
                <a:latin typeface="Arial"/>
                <a:cs typeface="Arial"/>
              </a:rPr>
              <a:t>&lt;input&gt; </a:t>
            </a:r>
            <a:r>
              <a:rPr lang="zh-TW" altLang="en-US" sz="2800" dirty="0">
                <a:latin typeface="Arial"/>
                <a:cs typeface="Arial"/>
              </a:rPr>
              <a:t>上的 </a:t>
            </a:r>
            <a:r>
              <a:rPr lang="en-US" altLang="zh-TW" sz="2800" dirty="0">
                <a:latin typeface="Arial"/>
                <a:cs typeface="Arial"/>
              </a:rPr>
              <a:t>type </a:t>
            </a:r>
            <a:r>
              <a:rPr lang="zh-TW" altLang="en-US" sz="2800" dirty="0">
                <a:latin typeface="Arial"/>
                <a:cs typeface="Arial"/>
              </a:rPr>
              <a:t>屬性來指明不同的用法功能</a:t>
            </a:r>
            <a:endParaRPr lang="en-US" altLang="zh-TW" sz="28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&lt;input type="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cs typeface="Arial"/>
              </a:rPr>
              <a:t>text</a:t>
            </a:r>
            <a:r>
              <a:rPr lang="en-US" altLang="zh-TW" sz="2400" dirty="0">
                <a:latin typeface="Arial"/>
                <a:cs typeface="Arial"/>
              </a:rPr>
              <a:t>"&gt; </a:t>
            </a:r>
            <a:r>
              <a:rPr lang="zh-TW" altLang="en-US" sz="2400" dirty="0">
                <a:latin typeface="Arial"/>
                <a:cs typeface="Arial"/>
              </a:rPr>
              <a:t>建立一個文字輸入欄位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&lt;input type="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cs typeface="Arial"/>
              </a:rPr>
              <a:t>password</a:t>
            </a:r>
            <a:r>
              <a:rPr lang="en-US" altLang="zh-TW" sz="2400" dirty="0">
                <a:latin typeface="Arial"/>
                <a:cs typeface="Arial"/>
              </a:rPr>
              <a:t>"&gt; </a:t>
            </a:r>
            <a:r>
              <a:rPr lang="zh-TW" altLang="en-US" sz="2400" dirty="0">
                <a:latin typeface="Arial"/>
                <a:cs typeface="Arial"/>
              </a:rPr>
              <a:t>建立一個密碼文字輸入欄位，和 </a:t>
            </a:r>
            <a:r>
              <a:rPr lang="en-US" altLang="zh-TW" sz="2400" dirty="0">
                <a:latin typeface="Arial"/>
                <a:cs typeface="Arial"/>
              </a:rPr>
              <a:t>text </a:t>
            </a:r>
            <a:r>
              <a:rPr lang="zh-TW" altLang="en-US" sz="2400" dirty="0">
                <a:latin typeface="Arial"/>
                <a:cs typeface="Arial"/>
              </a:rPr>
              <a:t>的差別是，使用者輸入的內容不會被明碼顯示在螢幕畫面中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&lt;input type="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cs typeface="Arial"/>
              </a:rPr>
              <a:t>checkbox</a:t>
            </a:r>
            <a:r>
              <a:rPr lang="en-US" altLang="zh-TW" sz="2400" dirty="0">
                <a:latin typeface="Arial"/>
                <a:cs typeface="Arial"/>
              </a:rPr>
              <a:t>"&gt; </a:t>
            </a:r>
            <a:r>
              <a:rPr lang="zh-TW" altLang="en-US" sz="2400" dirty="0">
                <a:latin typeface="Arial"/>
                <a:cs typeface="Arial"/>
              </a:rPr>
              <a:t>建立一個核取方塊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&lt;input type="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cs typeface="Arial"/>
              </a:rPr>
              <a:t>radio</a:t>
            </a:r>
            <a:r>
              <a:rPr lang="en-US" altLang="zh-TW" sz="2400" dirty="0">
                <a:latin typeface="Arial"/>
                <a:cs typeface="Arial"/>
              </a:rPr>
              <a:t>"&gt; </a:t>
            </a:r>
            <a:r>
              <a:rPr lang="zh-TW" altLang="en-US" sz="2400" dirty="0">
                <a:latin typeface="Arial"/>
                <a:cs typeface="Arial"/>
              </a:rPr>
              <a:t>建立一個選項按鈕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&lt;input type="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cs typeface="Arial"/>
              </a:rPr>
              <a:t>submit</a:t>
            </a:r>
            <a:r>
              <a:rPr lang="en-US" altLang="zh-TW" sz="2400" dirty="0">
                <a:latin typeface="Arial"/>
                <a:cs typeface="Arial"/>
              </a:rPr>
              <a:t>"&gt; </a:t>
            </a:r>
            <a:r>
              <a:rPr lang="zh-TW" altLang="en-US" sz="2400" dirty="0">
                <a:latin typeface="Arial"/>
                <a:cs typeface="Arial"/>
              </a:rPr>
              <a:t>建立</a:t>
            </a:r>
            <a:r>
              <a:rPr lang="zh-TW" altLang="en-US" sz="2000" dirty="0">
                <a:latin typeface="Arial"/>
                <a:cs typeface="Arial"/>
              </a:rPr>
              <a:t>一個送出表單的按鈕</a:t>
            </a:r>
            <a:endParaRPr lang="zh-TW" alt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13902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054740" cy="640080"/>
          </a:xfrm>
        </p:spPr>
        <p:txBody>
          <a:bodyPr>
            <a:noAutofit/>
          </a:bodyPr>
          <a:lstStyle/>
          <a:p>
            <a:r>
              <a:rPr lang="en-US" altLang="zh-TW" sz="4400" dirty="0">
                <a:latin typeface="Arial"/>
                <a:ea typeface="+mn-ea"/>
                <a:cs typeface="Arial"/>
              </a:rPr>
              <a:t>HTML </a:t>
            </a:r>
            <a:r>
              <a:rPr lang="zh-TW" altLang="en-US" sz="4400" dirty="0">
                <a:latin typeface="Arial"/>
                <a:ea typeface="+mn-ea"/>
                <a:cs typeface="Arial"/>
              </a:rPr>
              <a:t>表單元素</a:t>
            </a:r>
            <a:r>
              <a:rPr lang="en-US" altLang="zh-TW" sz="4400" dirty="0">
                <a:latin typeface="Arial"/>
                <a:ea typeface="+mn-ea"/>
                <a:cs typeface="Arial"/>
              </a:rPr>
              <a:t> - &lt;input&gt;</a:t>
            </a:r>
            <a:endParaRPr lang="zh-TW" altLang="en-US" sz="4400" dirty="0">
              <a:latin typeface="Arial"/>
              <a:ea typeface="+mn-ea"/>
              <a:cs typeface="Arial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495" y="1435608"/>
            <a:ext cx="11054741" cy="5101116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u"/>
            </a:pPr>
            <a:r>
              <a:rPr lang="zh-TW" altLang="en-US" sz="2800" dirty="0">
                <a:latin typeface="Arial"/>
                <a:cs typeface="Arial"/>
              </a:rPr>
              <a:t>用 </a:t>
            </a:r>
            <a:r>
              <a:rPr lang="en-US" altLang="zh-TW" sz="2800" dirty="0">
                <a:latin typeface="Arial"/>
                <a:cs typeface="Arial"/>
              </a:rPr>
              <a:t>&lt;input&gt; </a:t>
            </a:r>
            <a:r>
              <a:rPr lang="zh-TW" altLang="en-US" sz="2800" dirty="0">
                <a:latin typeface="Arial"/>
                <a:cs typeface="Arial"/>
              </a:rPr>
              <a:t>上的 </a:t>
            </a:r>
            <a:r>
              <a:rPr lang="en-US" altLang="zh-TW" sz="2800" dirty="0">
                <a:latin typeface="Arial"/>
                <a:cs typeface="Arial"/>
              </a:rPr>
              <a:t>type </a:t>
            </a:r>
            <a:r>
              <a:rPr lang="zh-TW" altLang="en-US" sz="2800" dirty="0">
                <a:latin typeface="Arial"/>
                <a:cs typeface="Arial"/>
              </a:rPr>
              <a:t>屬性來指明不同的用法功能</a:t>
            </a:r>
            <a:endParaRPr lang="en-US" altLang="zh-TW" sz="28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&lt;input type="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cs typeface="Arial"/>
              </a:rPr>
              <a:t>text</a:t>
            </a:r>
            <a:r>
              <a:rPr lang="en-US" altLang="zh-TW" sz="2400" dirty="0">
                <a:latin typeface="Arial"/>
                <a:cs typeface="Arial"/>
              </a:rPr>
              <a:t>"&gt; </a:t>
            </a:r>
            <a:r>
              <a:rPr lang="zh-TW" altLang="en-US" sz="2400" dirty="0">
                <a:latin typeface="Arial"/>
                <a:cs typeface="Arial"/>
              </a:rPr>
              <a:t>建立一個文字輸入欄位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&lt;input type="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cs typeface="Arial"/>
              </a:rPr>
              <a:t>password</a:t>
            </a:r>
            <a:r>
              <a:rPr lang="en-US" altLang="zh-TW" sz="2400" dirty="0">
                <a:latin typeface="Arial"/>
                <a:cs typeface="Arial"/>
              </a:rPr>
              <a:t>"&gt; </a:t>
            </a:r>
            <a:r>
              <a:rPr lang="zh-TW" altLang="en-US" sz="2400" dirty="0">
                <a:latin typeface="Arial"/>
                <a:cs typeface="Arial"/>
              </a:rPr>
              <a:t>建立一個密碼文字輸入欄位，和 </a:t>
            </a:r>
            <a:r>
              <a:rPr lang="en-US" altLang="zh-TW" sz="2400" dirty="0">
                <a:latin typeface="Arial"/>
                <a:cs typeface="Arial"/>
              </a:rPr>
              <a:t>text </a:t>
            </a:r>
            <a:r>
              <a:rPr lang="zh-TW" altLang="en-US" sz="2400" dirty="0">
                <a:latin typeface="Arial"/>
                <a:cs typeface="Arial"/>
              </a:rPr>
              <a:t>的差別是，使用者輸入的內容不會被明碼顯示在螢幕畫面中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&lt;input type="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cs typeface="Arial"/>
              </a:rPr>
              <a:t>checkbox</a:t>
            </a:r>
            <a:r>
              <a:rPr lang="en-US" altLang="zh-TW" sz="2400" dirty="0">
                <a:latin typeface="Arial"/>
                <a:cs typeface="Arial"/>
              </a:rPr>
              <a:t>"&gt; </a:t>
            </a:r>
            <a:r>
              <a:rPr lang="zh-TW" altLang="en-US" sz="2400" dirty="0">
                <a:latin typeface="Arial"/>
                <a:cs typeface="Arial"/>
              </a:rPr>
              <a:t>建立一個核取方塊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&lt;input type="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cs typeface="Arial"/>
              </a:rPr>
              <a:t>radio</a:t>
            </a:r>
            <a:r>
              <a:rPr lang="en-US" altLang="zh-TW" sz="2400" dirty="0">
                <a:latin typeface="Arial"/>
                <a:cs typeface="Arial"/>
              </a:rPr>
              <a:t>"&gt; </a:t>
            </a:r>
            <a:r>
              <a:rPr lang="zh-TW" altLang="en-US" sz="2400" dirty="0">
                <a:latin typeface="Arial"/>
                <a:cs typeface="Arial"/>
              </a:rPr>
              <a:t>建立一個選項按鈕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&lt;input type="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cs typeface="Arial"/>
              </a:rPr>
              <a:t>submit</a:t>
            </a:r>
            <a:r>
              <a:rPr lang="en-US" altLang="zh-TW" sz="2400" dirty="0">
                <a:latin typeface="Arial"/>
                <a:cs typeface="Arial"/>
              </a:rPr>
              <a:t>"&gt; </a:t>
            </a:r>
            <a:r>
              <a:rPr lang="zh-TW" altLang="en-US" sz="2400" dirty="0">
                <a:latin typeface="Arial"/>
                <a:cs typeface="Arial"/>
              </a:rPr>
              <a:t>建立</a:t>
            </a:r>
            <a:r>
              <a:rPr lang="zh-TW" altLang="en-US" sz="2000" dirty="0">
                <a:latin typeface="Arial"/>
                <a:cs typeface="Arial"/>
              </a:rPr>
              <a:t>一個送出表單的按鈕</a:t>
            </a:r>
            <a:endParaRPr lang="en-US" altLang="zh-TW" sz="20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&lt;input type="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cs typeface="Arial"/>
              </a:rPr>
              <a:t>file</a:t>
            </a:r>
            <a:r>
              <a:rPr lang="en-US" altLang="zh-TW" sz="2400" dirty="0">
                <a:latin typeface="Arial"/>
                <a:cs typeface="Arial"/>
              </a:rPr>
              <a:t>"&gt; </a:t>
            </a:r>
            <a:r>
              <a:rPr lang="zh-TW" altLang="en-US" sz="2400" dirty="0">
                <a:latin typeface="Arial"/>
                <a:cs typeface="Arial"/>
              </a:rPr>
              <a:t>檔案上傳 </a:t>
            </a:r>
            <a:r>
              <a:rPr lang="en-US" altLang="zh-TW" sz="2400" dirty="0">
                <a:latin typeface="Arial"/>
                <a:cs typeface="Arial"/>
              </a:rPr>
              <a:t>(file upload)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&lt;input type="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cs typeface="Arial"/>
              </a:rPr>
              <a:t>image</a:t>
            </a:r>
            <a:r>
              <a:rPr lang="en-US" altLang="zh-TW" sz="2400" dirty="0">
                <a:latin typeface="Arial"/>
                <a:cs typeface="Arial"/>
              </a:rPr>
              <a:t>"&gt; </a:t>
            </a:r>
            <a:r>
              <a:rPr lang="zh-TW" altLang="en-US" sz="2400" dirty="0">
                <a:latin typeface="Arial"/>
                <a:cs typeface="Arial"/>
              </a:rPr>
              <a:t>圖片送出按鈕</a:t>
            </a:r>
            <a:endParaRPr lang="en-US" altLang="zh-TW" sz="24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&lt;input type="</a:t>
            </a:r>
            <a:r>
              <a:rPr lang="en-US" altLang="zh-TW" sz="2400" dirty="0" err="1">
                <a:solidFill>
                  <a:srgbClr val="FF0000"/>
                </a:solidFill>
                <a:latin typeface="Arial"/>
                <a:cs typeface="Arial"/>
              </a:rPr>
              <a:t>tel</a:t>
            </a:r>
            <a:r>
              <a:rPr lang="en-US" altLang="zh-TW" sz="2400" dirty="0">
                <a:latin typeface="Arial"/>
                <a:cs typeface="Arial"/>
              </a:rPr>
              <a:t>"&gt; </a:t>
            </a:r>
            <a:r>
              <a:rPr lang="zh-TW" altLang="en-US" sz="2400" dirty="0">
                <a:latin typeface="Arial"/>
                <a:cs typeface="Arial"/>
              </a:rPr>
              <a:t>電話號碼輸入欄位</a:t>
            </a:r>
          </a:p>
        </p:txBody>
      </p:sp>
    </p:spTree>
    <p:extLst>
      <p:ext uri="{BB962C8B-B14F-4D97-AF65-F5344CB8AC3E}">
        <p14:creationId xmlns:p14="http://schemas.microsoft.com/office/powerpoint/2010/main" val="22105702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054740" cy="640080"/>
          </a:xfrm>
        </p:spPr>
        <p:txBody>
          <a:bodyPr>
            <a:noAutofit/>
          </a:bodyPr>
          <a:lstStyle/>
          <a:p>
            <a:r>
              <a:rPr lang="en-US" altLang="zh-TW" sz="4400" dirty="0">
                <a:latin typeface="Arial"/>
                <a:ea typeface="+mn-ea"/>
                <a:cs typeface="Arial"/>
              </a:rPr>
              <a:t>HTML </a:t>
            </a:r>
            <a:r>
              <a:rPr lang="zh-TW" altLang="en-US" sz="4400" dirty="0">
                <a:latin typeface="Arial"/>
                <a:ea typeface="+mn-ea"/>
                <a:cs typeface="Arial"/>
              </a:rPr>
              <a:t>表單元素</a:t>
            </a:r>
            <a:r>
              <a:rPr lang="en-US" altLang="zh-TW" sz="4400" dirty="0">
                <a:latin typeface="Arial"/>
                <a:ea typeface="+mn-ea"/>
                <a:cs typeface="Arial"/>
              </a:rPr>
              <a:t> - &lt;input&gt;</a:t>
            </a:r>
            <a:endParaRPr lang="zh-TW" altLang="en-US" sz="4400" dirty="0">
              <a:latin typeface="Arial"/>
              <a:ea typeface="+mn-ea"/>
              <a:cs typeface="Arial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495" y="1435608"/>
            <a:ext cx="11054741" cy="5101116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u"/>
            </a:pPr>
            <a:r>
              <a:rPr lang="zh-TW" altLang="en-US" sz="2800" dirty="0">
                <a:latin typeface="Arial"/>
                <a:cs typeface="Arial"/>
              </a:rPr>
              <a:t>用 </a:t>
            </a:r>
            <a:r>
              <a:rPr lang="en-US" altLang="zh-TW" sz="2800" dirty="0">
                <a:latin typeface="Arial"/>
                <a:cs typeface="Arial"/>
              </a:rPr>
              <a:t>&lt;input&gt; </a:t>
            </a:r>
            <a:r>
              <a:rPr lang="zh-TW" altLang="en-US" sz="2800" dirty="0">
                <a:latin typeface="Arial"/>
                <a:cs typeface="Arial"/>
              </a:rPr>
              <a:t>上的 </a:t>
            </a:r>
            <a:r>
              <a:rPr lang="en-US" altLang="zh-TW" sz="2800" dirty="0">
                <a:latin typeface="Arial"/>
                <a:cs typeface="Arial"/>
              </a:rPr>
              <a:t>type </a:t>
            </a:r>
            <a:r>
              <a:rPr lang="zh-TW" altLang="en-US" sz="2800" dirty="0">
                <a:latin typeface="Arial"/>
                <a:cs typeface="Arial"/>
              </a:rPr>
              <a:t>屬性來指明不同的用法功能</a:t>
            </a:r>
            <a:endParaRPr lang="en-US" altLang="zh-TW" sz="28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&lt;input type="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cs typeface="Arial"/>
              </a:rPr>
              <a:t>email</a:t>
            </a:r>
            <a:r>
              <a:rPr lang="en-US" altLang="zh-TW" sz="2400" dirty="0">
                <a:latin typeface="Arial"/>
                <a:cs typeface="Arial"/>
              </a:rPr>
              <a:t>"&gt; </a:t>
            </a:r>
            <a:r>
              <a:rPr lang="zh-TW" altLang="en-US" sz="2400" dirty="0">
                <a:latin typeface="Arial"/>
                <a:cs typeface="Arial"/>
              </a:rPr>
              <a:t>電子郵件輸入欄位</a:t>
            </a:r>
            <a:endParaRPr lang="en-US" altLang="zh-TW" sz="24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&lt;input type="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cs typeface="Arial"/>
              </a:rPr>
              <a:t>date</a:t>
            </a:r>
            <a:r>
              <a:rPr lang="en-US" altLang="zh-TW" sz="2400" dirty="0">
                <a:latin typeface="Arial"/>
                <a:cs typeface="Arial"/>
              </a:rPr>
              <a:t>"&gt; </a:t>
            </a:r>
            <a:r>
              <a:rPr lang="zh-TW" altLang="en-US" sz="2400" dirty="0">
                <a:latin typeface="Arial"/>
                <a:cs typeface="Arial"/>
              </a:rPr>
              <a:t>日期輸入欄位</a:t>
            </a:r>
            <a:endParaRPr lang="en-US" altLang="zh-TW" sz="24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&lt;input type="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cs typeface="Arial"/>
              </a:rPr>
              <a:t>time</a:t>
            </a:r>
            <a:r>
              <a:rPr lang="en-US" altLang="zh-TW" sz="2400" dirty="0">
                <a:latin typeface="Arial"/>
                <a:cs typeface="Arial"/>
              </a:rPr>
              <a:t>"&gt; </a:t>
            </a:r>
            <a:r>
              <a:rPr lang="zh-TW" altLang="en-US" sz="2400" dirty="0">
                <a:latin typeface="Arial"/>
                <a:cs typeface="Arial"/>
              </a:rPr>
              <a:t>時間輸入欄位</a:t>
            </a:r>
            <a:endParaRPr lang="en-US" altLang="zh-TW" sz="24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&lt;input type="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cs typeface="Arial"/>
              </a:rPr>
              <a:t>number</a:t>
            </a:r>
            <a:r>
              <a:rPr lang="en-US" altLang="zh-TW" sz="2400" dirty="0">
                <a:latin typeface="Arial"/>
                <a:cs typeface="Arial"/>
              </a:rPr>
              <a:t>"&gt; </a:t>
            </a:r>
            <a:r>
              <a:rPr lang="zh-TW" altLang="en-US" sz="2400" dirty="0">
                <a:latin typeface="Arial"/>
                <a:cs typeface="Arial"/>
              </a:rPr>
              <a:t>數字輸入欄位</a:t>
            </a:r>
            <a:endParaRPr lang="en-US" altLang="zh-TW" sz="24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&lt;input type="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cs typeface="Arial"/>
              </a:rPr>
              <a:t>range</a:t>
            </a:r>
            <a:r>
              <a:rPr lang="en-US" altLang="zh-TW" sz="2400" dirty="0">
                <a:latin typeface="Arial"/>
                <a:cs typeface="Arial"/>
              </a:rPr>
              <a:t>"&gt; </a:t>
            </a:r>
            <a:r>
              <a:rPr lang="zh-TW" altLang="en-US" sz="2400" dirty="0">
                <a:latin typeface="Arial"/>
                <a:cs typeface="Arial"/>
              </a:rPr>
              <a:t>數字範圍滑動選取欄位</a:t>
            </a:r>
            <a:endParaRPr lang="en-US" altLang="zh-TW" sz="24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&lt;input type="</a:t>
            </a:r>
            <a:r>
              <a:rPr lang="en-US" altLang="zh-TW" sz="2400" dirty="0">
                <a:solidFill>
                  <a:srgbClr val="FF0000"/>
                </a:solidFill>
                <a:latin typeface="Arial"/>
                <a:cs typeface="Arial"/>
              </a:rPr>
              <a:t>color</a:t>
            </a:r>
            <a:r>
              <a:rPr lang="en-US" altLang="zh-TW" sz="2400" dirty="0">
                <a:latin typeface="Arial"/>
                <a:cs typeface="Arial"/>
              </a:rPr>
              <a:t>"&gt; </a:t>
            </a:r>
            <a:r>
              <a:rPr lang="zh-TW" altLang="en-US" sz="2400" dirty="0">
                <a:latin typeface="Arial"/>
                <a:cs typeface="Arial"/>
              </a:rPr>
              <a:t>顏色選擇器 </a:t>
            </a:r>
            <a:r>
              <a:rPr lang="en-US" altLang="zh-TW" sz="2400" dirty="0">
                <a:latin typeface="Arial"/>
                <a:cs typeface="Arial"/>
              </a:rPr>
              <a:t>(color picker)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endParaRPr lang="zh-TW" altLang="en-US" sz="24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endParaRPr lang="zh-TW" altLang="en-US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77536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054740" cy="640080"/>
          </a:xfrm>
        </p:spPr>
        <p:txBody>
          <a:bodyPr>
            <a:noAutofit/>
          </a:bodyPr>
          <a:lstStyle/>
          <a:p>
            <a:r>
              <a:rPr lang="en-US" altLang="zh-TW" sz="4400" dirty="0">
                <a:latin typeface="Arial"/>
                <a:ea typeface="+mn-ea"/>
                <a:cs typeface="Arial"/>
              </a:rPr>
              <a:t>HTML </a:t>
            </a:r>
            <a:r>
              <a:rPr lang="zh-TW" altLang="en-US" sz="4400" dirty="0">
                <a:latin typeface="Arial"/>
                <a:ea typeface="+mn-ea"/>
                <a:cs typeface="Arial"/>
              </a:rPr>
              <a:t>表單元素</a:t>
            </a:r>
            <a:r>
              <a:rPr lang="en-US" altLang="zh-TW" sz="4400" dirty="0">
                <a:latin typeface="Arial"/>
                <a:ea typeface="+mn-ea"/>
                <a:cs typeface="Arial"/>
              </a:rPr>
              <a:t> - &lt;</a:t>
            </a:r>
            <a:r>
              <a:rPr lang="en-US" altLang="zh-TW" sz="4400" dirty="0" err="1">
                <a:latin typeface="Arial"/>
                <a:ea typeface="+mn-ea"/>
                <a:cs typeface="Arial"/>
              </a:rPr>
              <a:t>textarea</a:t>
            </a:r>
            <a:r>
              <a:rPr lang="en-US" altLang="zh-TW" sz="4400" dirty="0">
                <a:latin typeface="Arial"/>
                <a:ea typeface="+mn-ea"/>
                <a:cs typeface="Arial"/>
              </a:rPr>
              <a:t>&gt; </a:t>
            </a:r>
            <a:endParaRPr lang="zh-TW" altLang="en-US" sz="4400" dirty="0">
              <a:latin typeface="Arial"/>
              <a:ea typeface="+mn-ea"/>
              <a:cs typeface="Arial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495" y="1435608"/>
            <a:ext cx="11054741" cy="5101116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u"/>
            </a:pPr>
            <a:r>
              <a:rPr lang="zh-TW" altLang="en-US" sz="2800" dirty="0">
                <a:latin typeface="Arial"/>
                <a:cs typeface="Arial"/>
              </a:rPr>
              <a:t>用來建立一個可以輸入多行文字的輸入框 </a:t>
            </a:r>
            <a:r>
              <a:rPr lang="en-US" altLang="zh-TW" sz="2800" dirty="0">
                <a:latin typeface="Arial"/>
                <a:cs typeface="Arial"/>
              </a:rPr>
              <a:t>(multi-line textbox)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</a:t>
            </a:r>
            <a:r>
              <a:rPr lang="en-US" altLang="zh-TW" sz="2400" dirty="0" err="1">
                <a:latin typeface="Arial"/>
                <a:cs typeface="Arial"/>
              </a:rPr>
              <a:t>textarea</a:t>
            </a:r>
            <a:r>
              <a:rPr lang="en-US" altLang="zh-TW" sz="2400" dirty="0">
                <a:latin typeface="Arial"/>
                <a:cs typeface="Arial"/>
              </a:rPr>
              <a:t>&gt; </a:t>
            </a:r>
            <a:r>
              <a:rPr lang="zh-TW" altLang="en-US" sz="2400" dirty="0">
                <a:latin typeface="Arial"/>
                <a:cs typeface="Arial"/>
              </a:rPr>
              <a:t>標籤的屬性 </a:t>
            </a:r>
            <a:r>
              <a:rPr lang="en-US" altLang="zh-TW" sz="2400" dirty="0">
                <a:latin typeface="Arial"/>
                <a:cs typeface="Arial"/>
              </a:rPr>
              <a:t>(attributes)</a:t>
            </a:r>
          </a:p>
          <a:p>
            <a:pPr marL="1028700" lvl="2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en-US" altLang="zh-TW" sz="2000" dirty="0">
                <a:latin typeface="Arial"/>
                <a:cs typeface="Arial"/>
              </a:rPr>
              <a:t>name: </a:t>
            </a:r>
            <a:r>
              <a:rPr lang="zh-TW" altLang="en-US" sz="2000" dirty="0">
                <a:latin typeface="Arial"/>
                <a:cs typeface="Arial"/>
              </a:rPr>
              <a:t>文字欄位名稱</a:t>
            </a:r>
          </a:p>
          <a:p>
            <a:pPr marL="1028700" lvl="2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en-US" altLang="zh-TW" sz="2000" dirty="0">
                <a:latin typeface="Arial"/>
                <a:cs typeface="Arial"/>
              </a:rPr>
              <a:t>rows: </a:t>
            </a:r>
            <a:r>
              <a:rPr lang="zh-TW" altLang="en-US" sz="2000" dirty="0">
                <a:latin typeface="Arial"/>
                <a:cs typeface="Arial"/>
              </a:rPr>
              <a:t>設定輸入框的高度是幾行文字 </a:t>
            </a:r>
            <a:r>
              <a:rPr lang="en-US" altLang="zh-TW" sz="2000" dirty="0">
                <a:latin typeface="Arial"/>
                <a:cs typeface="Arial"/>
              </a:rPr>
              <a:t>(lines)</a:t>
            </a:r>
            <a:r>
              <a:rPr lang="zh-TW" altLang="en-US" sz="2000" dirty="0">
                <a:latin typeface="Arial"/>
                <a:cs typeface="Arial"/>
              </a:rPr>
              <a:t>，預設是 </a:t>
            </a:r>
            <a:r>
              <a:rPr lang="en-US" altLang="zh-TW" sz="2000" dirty="0">
                <a:latin typeface="Arial"/>
                <a:cs typeface="Arial"/>
              </a:rPr>
              <a:t>2</a:t>
            </a:r>
          </a:p>
          <a:p>
            <a:pPr marL="1028700" lvl="2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en-US" altLang="zh-TW" sz="2000" dirty="0">
                <a:latin typeface="Arial"/>
                <a:cs typeface="Arial"/>
              </a:rPr>
              <a:t>cols: </a:t>
            </a:r>
            <a:r>
              <a:rPr lang="zh-TW" altLang="en-US" sz="2000" dirty="0">
                <a:latin typeface="Arial"/>
                <a:cs typeface="Arial"/>
              </a:rPr>
              <a:t>設定輸入框的寬度是多少文字 </a:t>
            </a:r>
            <a:r>
              <a:rPr lang="en-US" altLang="zh-TW" sz="2000" dirty="0">
                <a:latin typeface="Arial"/>
                <a:cs typeface="Arial"/>
              </a:rPr>
              <a:t>(characters)</a:t>
            </a:r>
            <a:r>
              <a:rPr lang="zh-TW" altLang="en-US" sz="2000" dirty="0">
                <a:latin typeface="Arial"/>
                <a:cs typeface="Arial"/>
              </a:rPr>
              <a:t>，預設是 </a:t>
            </a:r>
            <a:r>
              <a:rPr lang="en-US" altLang="zh-TW" sz="2000" dirty="0">
                <a:latin typeface="Arial"/>
                <a:cs typeface="Arial"/>
              </a:rPr>
              <a:t>20</a:t>
            </a:r>
          </a:p>
          <a:p>
            <a:pPr marL="1028700" lvl="2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en-US" altLang="zh-TW" sz="2000" dirty="0" err="1">
                <a:latin typeface="Arial"/>
                <a:cs typeface="Arial"/>
              </a:rPr>
              <a:t>maxlength</a:t>
            </a:r>
            <a:r>
              <a:rPr lang="en-US" altLang="zh-TW" sz="2000" dirty="0">
                <a:latin typeface="Arial"/>
                <a:cs typeface="Arial"/>
              </a:rPr>
              <a:t>: </a:t>
            </a:r>
            <a:r>
              <a:rPr lang="zh-TW" altLang="en-US" sz="2000" dirty="0">
                <a:latin typeface="Arial"/>
                <a:cs typeface="Arial"/>
              </a:rPr>
              <a:t>限定輸入的文字長度上限是幾個字</a:t>
            </a:r>
          </a:p>
          <a:p>
            <a:pPr marL="1028700" lvl="2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en-US" altLang="zh-TW" sz="2000" dirty="0" err="1">
                <a:latin typeface="Arial"/>
                <a:cs typeface="Arial"/>
              </a:rPr>
              <a:t>minlength</a:t>
            </a:r>
            <a:r>
              <a:rPr lang="en-US" altLang="zh-TW" sz="2000" dirty="0">
                <a:latin typeface="Arial"/>
                <a:cs typeface="Arial"/>
              </a:rPr>
              <a:t>: </a:t>
            </a:r>
            <a:r>
              <a:rPr lang="zh-TW" altLang="en-US" sz="2000" dirty="0">
                <a:latin typeface="Arial"/>
                <a:cs typeface="Arial"/>
              </a:rPr>
              <a:t>限定輸入的文字長度最少是幾個字</a:t>
            </a:r>
          </a:p>
          <a:p>
            <a:pPr marL="1028700" lvl="2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en-US" altLang="zh-TW" sz="2000" dirty="0">
                <a:latin typeface="Arial"/>
                <a:cs typeface="Arial"/>
              </a:rPr>
              <a:t>placeholder: </a:t>
            </a:r>
            <a:r>
              <a:rPr lang="zh-TW" altLang="en-US" sz="2000" dirty="0">
                <a:latin typeface="Arial"/>
                <a:cs typeface="Arial"/>
              </a:rPr>
              <a:t>輸入欄位中的提示訊息</a:t>
            </a:r>
          </a:p>
          <a:p>
            <a:pPr marL="1028700" lvl="2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en-US" altLang="zh-TW" sz="2000" dirty="0">
                <a:latin typeface="Arial"/>
                <a:cs typeface="Arial"/>
              </a:rPr>
              <a:t>disabled: </a:t>
            </a:r>
            <a:r>
              <a:rPr lang="zh-TW" altLang="en-US" sz="2000" dirty="0">
                <a:latin typeface="Arial"/>
                <a:cs typeface="Arial"/>
              </a:rPr>
              <a:t>將欄位設定為禁用的狀態，是一個布林 </a:t>
            </a:r>
            <a:r>
              <a:rPr lang="en-US" altLang="zh-TW" sz="2000" dirty="0">
                <a:latin typeface="Arial"/>
                <a:cs typeface="Arial"/>
              </a:rPr>
              <a:t>(</a:t>
            </a:r>
            <a:r>
              <a:rPr lang="en-US" altLang="zh-TW" sz="2000" dirty="0" err="1">
                <a:latin typeface="Arial"/>
                <a:cs typeface="Arial"/>
              </a:rPr>
              <a:t>boolean</a:t>
            </a:r>
            <a:r>
              <a:rPr lang="en-US" altLang="zh-TW" sz="2000" dirty="0">
                <a:latin typeface="Arial"/>
                <a:cs typeface="Arial"/>
              </a:rPr>
              <a:t>) </a:t>
            </a:r>
            <a:r>
              <a:rPr lang="zh-TW" altLang="en-US" sz="2000" dirty="0">
                <a:latin typeface="Arial"/>
                <a:cs typeface="Arial"/>
              </a:rPr>
              <a:t>屬性</a:t>
            </a:r>
          </a:p>
          <a:p>
            <a:pPr marL="1028700" lvl="2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en-US" altLang="zh-TW" sz="2000" dirty="0" err="1">
                <a:latin typeface="Arial"/>
                <a:cs typeface="Arial"/>
              </a:rPr>
              <a:t>readonly</a:t>
            </a:r>
            <a:r>
              <a:rPr lang="en-US" altLang="zh-TW" sz="2000" dirty="0">
                <a:latin typeface="Arial"/>
                <a:cs typeface="Arial"/>
              </a:rPr>
              <a:t>: </a:t>
            </a:r>
            <a:r>
              <a:rPr lang="zh-TW" altLang="en-US" sz="2000" dirty="0">
                <a:latin typeface="Arial"/>
                <a:cs typeface="Arial"/>
              </a:rPr>
              <a:t>將欄位設定為唯讀不可編輯的狀態，是一個布林 </a:t>
            </a:r>
            <a:r>
              <a:rPr lang="en-US" altLang="zh-TW" sz="2000" dirty="0">
                <a:latin typeface="Arial"/>
                <a:cs typeface="Arial"/>
              </a:rPr>
              <a:t>(</a:t>
            </a:r>
            <a:r>
              <a:rPr lang="en-US" altLang="zh-TW" sz="2000" dirty="0" err="1">
                <a:latin typeface="Arial"/>
                <a:cs typeface="Arial"/>
              </a:rPr>
              <a:t>boolean</a:t>
            </a:r>
            <a:r>
              <a:rPr lang="en-US" altLang="zh-TW" sz="2000" dirty="0">
                <a:latin typeface="Arial"/>
                <a:cs typeface="Arial"/>
              </a:rPr>
              <a:t>) </a:t>
            </a:r>
            <a:r>
              <a:rPr lang="zh-TW" altLang="en-US" sz="2000" dirty="0">
                <a:latin typeface="Arial"/>
                <a:cs typeface="Arial"/>
              </a:rPr>
              <a:t>屬性</a:t>
            </a:r>
          </a:p>
          <a:p>
            <a:pPr marL="1028700" lvl="2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l"/>
            </a:pPr>
            <a:r>
              <a:rPr lang="en-US" altLang="zh-TW" sz="2000" dirty="0">
                <a:latin typeface="Arial"/>
                <a:cs typeface="Arial"/>
              </a:rPr>
              <a:t>required: </a:t>
            </a:r>
            <a:r>
              <a:rPr lang="zh-TW" altLang="en-US" sz="2000" dirty="0">
                <a:latin typeface="Arial"/>
                <a:cs typeface="Arial"/>
              </a:rPr>
              <a:t>將欄位設定為必填，是一個布林 </a:t>
            </a:r>
            <a:r>
              <a:rPr lang="en-US" altLang="zh-TW" sz="2000" dirty="0">
                <a:latin typeface="Arial"/>
                <a:cs typeface="Arial"/>
              </a:rPr>
              <a:t>(</a:t>
            </a:r>
            <a:r>
              <a:rPr lang="en-US" altLang="zh-TW" sz="2000" dirty="0" err="1">
                <a:latin typeface="Arial"/>
                <a:cs typeface="Arial"/>
              </a:rPr>
              <a:t>boolean</a:t>
            </a:r>
            <a:r>
              <a:rPr lang="en-US" altLang="zh-TW" sz="2000" dirty="0">
                <a:latin typeface="Arial"/>
                <a:cs typeface="Arial"/>
              </a:rPr>
              <a:t>) </a:t>
            </a:r>
            <a:r>
              <a:rPr lang="zh-TW" altLang="en-US" sz="2000" dirty="0">
                <a:latin typeface="Arial"/>
                <a:cs typeface="Arial"/>
              </a:rPr>
              <a:t>屬性</a:t>
            </a:r>
          </a:p>
        </p:txBody>
      </p:sp>
    </p:spTree>
    <p:extLst>
      <p:ext uri="{BB962C8B-B14F-4D97-AF65-F5344CB8AC3E}">
        <p14:creationId xmlns:p14="http://schemas.microsoft.com/office/powerpoint/2010/main" val="27078779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054740" cy="640080"/>
          </a:xfrm>
        </p:spPr>
        <p:txBody>
          <a:bodyPr>
            <a:noAutofit/>
          </a:bodyPr>
          <a:lstStyle/>
          <a:p>
            <a:r>
              <a:rPr lang="en-US" altLang="zh-TW" sz="4400" dirty="0">
                <a:latin typeface="Arial"/>
                <a:ea typeface="+mn-ea"/>
                <a:cs typeface="Arial"/>
              </a:rPr>
              <a:t>HTML </a:t>
            </a:r>
            <a:r>
              <a:rPr lang="zh-TW" altLang="en-US" sz="4400" dirty="0">
                <a:latin typeface="Arial"/>
                <a:ea typeface="+mn-ea"/>
                <a:cs typeface="Arial"/>
              </a:rPr>
              <a:t>下拉式選單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495" y="1435608"/>
            <a:ext cx="11054741" cy="5101116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en-US" altLang="zh-TW" sz="2800" dirty="0">
                <a:solidFill>
                  <a:srgbClr val="FF0000"/>
                </a:solidFill>
                <a:latin typeface="Arial"/>
                <a:cs typeface="Arial"/>
              </a:rPr>
              <a:t>&lt;select&gt;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400" dirty="0">
                <a:latin typeface="Arial"/>
                <a:cs typeface="Arial"/>
              </a:rPr>
              <a:t>用來建立下拉式選單 </a:t>
            </a:r>
            <a:r>
              <a:rPr lang="en-US" altLang="zh-TW" sz="2400" dirty="0">
                <a:latin typeface="Arial"/>
                <a:cs typeface="Arial"/>
              </a:rPr>
              <a:t>(dropdown menu)</a:t>
            </a:r>
            <a:r>
              <a:rPr lang="zh-TW" altLang="en-US" sz="2400" dirty="0">
                <a:latin typeface="Arial"/>
                <a:cs typeface="Arial"/>
              </a:rPr>
              <a:t>，讓使用者可以從一堆選項中選擇出一個或多個選項</a:t>
            </a:r>
            <a:endParaRPr lang="en-US" altLang="zh-TW" sz="24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&lt;select&gt; </a:t>
            </a:r>
            <a:r>
              <a:rPr lang="zh-TW" altLang="en-US" sz="2400" dirty="0">
                <a:latin typeface="Arial"/>
                <a:cs typeface="Arial"/>
              </a:rPr>
              <a:t>本身做為選單的容器，在 </a:t>
            </a:r>
            <a:r>
              <a:rPr lang="en-US" altLang="zh-TW" sz="2400" dirty="0">
                <a:latin typeface="Arial"/>
                <a:cs typeface="Arial"/>
              </a:rPr>
              <a:t>select </a:t>
            </a:r>
            <a:r>
              <a:rPr lang="zh-TW" altLang="en-US" sz="2400" dirty="0">
                <a:latin typeface="Arial"/>
                <a:cs typeface="Arial"/>
              </a:rPr>
              <a:t>裡面用 </a:t>
            </a:r>
            <a:r>
              <a:rPr lang="en-US" altLang="zh-TW" sz="2400" dirty="0">
                <a:latin typeface="Arial"/>
                <a:cs typeface="Arial"/>
              </a:rPr>
              <a:t>&lt;option&gt; </a:t>
            </a:r>
            <a:r>
              <a:rPr lang="zh-TW" altLang="en-US" sz="2400" dirty="0">
                <a:latin typeface="Arial"/>
                <a:cs typeface="Arial"/>
              </a:rPr>
              <a:t>標籤來建立個別選項</a:t>
            </a:r>
            <a:endParaRPr lang="en-US" altLang="zh-TW" sz="2400" dirty="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en-US" altLang="zh-TW" sz="2800" dirty="0">
                <a:solidFill>
                  <a:srgbClr val="FF0000"/>
                </a:solidFill>
                <a:latin typeface="Arial"/>
                <a:cs typeface="Arial"/>
              </a:rPr>
              <a:t>&lt;option&gt;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400" dirty="0">
                <a:latin typeface="Arial"/>
                <a:cs typeface="Arial"/>
              </a:rPr>
              <a:t>用來建立選項，而選項內容放在 </a:t>
            </a:r>
            <a:r>
              <a:rPr lang="en-US" altLang="zh-TW" sz="2400" dirty="0">
                <a:latin typeface="Arial"/>
                <a:cs typeface="Arial"/>
              </a:rPr>
              <a:t>&lt;option&gt;&lt;/option&gt; </a:t>
            </a:r>
            <a:r>
              <a:rPr lang="zh-TW" altLang="en-US" sz="2400" dirty="0">
                <a:latin typeface="Arial"/>
                <a:cs typeface="Arial"/>
              </a:rPr>
              <a:t>標籤裡面</a:t>
            </a:r>
            <a:endParaRPr lang="en-US" altLang="zh-TW" sz="2400" dirty="0">
              <a:latin typeface="Arial"/>
              <a:cs typeface="Arial"/>
            </a:endParaRP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en-US" altLang="zh-TW" sz="2800" dirty="0">
                <a:solidFill>
                  <a:srgbClr val="FF0000"/>
                </a:solidFill>
                <a:latin typeface="Arial"/>
                <a:cs typeface="Arial"/>
              </a:rPr>
              <a:t>&lt;</a:t>
            </a:r>
            <a:r>
              <a:rPr lang="en-US" altLang="zh-TW" sz="2800" dirty="0" err="1">
                <a:solidFill>
                  <a:srgbClr val="FF0000"/>
                </a:solidFill>
                <a:latin typeface="Arial"/>
                <a:cs typeface="Arial"/>
              </a:rPr>
              <a:t>optgroup</a:t>
            </a:r>
            <a:r>
              <a:rPr lang="en-US" altLang="zh-TW" sz="2800" dirty="0">
                <a:solidFill>
                  <a:srgbClr val="FF0000"/>
                </a:solidFill>
                <a:latin typeface="Arial"/>
                <a:cs typeface="Arial"/>
              </a:rPr>
              <a:t>&gt;</a:t>
            </a:r>
            <a:endParaRPr lang="en-US" altLang="zh-TW" sz="24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400" dirty="0">
                <a:latin typeface="Arial"/>
                <a:cs typeface="Arial"/>
              </a:rPr>
              <a:t>用來將同樣性質的選項做分區顯示</a:t>
            </a:r>
            <a:endParaRPr lang="en-US" altLang="zh-TW" sz="24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</a:t>
            </a:r>
            <a:r>
              <a:rPr lang="en-US" altLang="zh-TW" sz="2400" dirty="0" err="1">
                <a:latin typeface="Arial"/>
                <a:cs typeface="Arial"/>
              </a:rPr>
              <a:t>optgroup</a:t>
            </a:r>
            <a:r>
              <a:rPr lang="en-US" altLang="zh-TW" sz="2400" dirty="0">
                <a:latin typeface="Arial"/>
                <a:cs typeface="Arial"/>
              </a:rPr>
              <a:t>&gt; </a:t>
            </a:r>
            <a:r>
              <a:rPr lang="zh-TW" altLang="en-US" sz="2400" dirty="0">
                <a:latin typeface="Arial"/>
                <a:cs typeface="Arial"/>
              </a:rPr>
              <a:t>上的 </a:t>
            </a:r>
            <a:r>
              <a:rPr lang="en-US" altLang="zh-TW" sz="2400" dirty="0">
                <a:latin typeface="Arial"/>
                <a:cs typeface="Arial"/>
              </a:rPr>
              <a:t>label </a:t>
            </a:r>
            <a:r>
              <a:rPr lang="zh-TW" altLang="en-US" sz="2400" dirty="0">
                <a:latin typeface="Arial"/>
                <a:cs typeface="Arial"/>
              </a:rPr>
              <a:t>屬性是用來設定該分區的名稱</a:t>
            </a:r>
            <a:endParaRPr lang="en-US" altLang="zh-TW" sz="2400" dirty="0">
              <a:latin typeface="Arial"/>
              <a:cs typeface="Arial"/>
            </a:endParaRP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endParaRPr lang="en-US" altLang="zh-TW" sz="2400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0841148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11054740" cy="640080"/>
          </a:xfrm>
        </p:spPr>
        <p:txBody>
          <a:bodyPr>
            <a:noAutofit/>
          </a:bodyPr>
          <a:lstStyle/>
          <a:p>
            <a:r>
              <a:rPr lang="en-US" altLang="zh-TW" sz="4400" dirty="0">
                <a:latin typeface="Arial"/>
                <a:ea typeface="+mn-ea"/>
                <a:cs typeface="Arial"/>
              </a:rPr>
              <a:t>HTML </a:t>
            </a:r>
            <a:r>
              <a:rPr lang="zh-TW" altLang="en-US" sz="4400" dirty="0">
                <a:latin typeface="Arial"/>
                <a:ea typeface="+mn-ea"/>
                <a:cs typeface="Arial"/>
              </a:rPr>
              <a:t>表單控制元件分組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39495" y="1435608"/>
            <a:ext cx="11054741" cy="5101116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en-US" altLang="zh-TW" sz="2800" dirty="0">
                <a:solidFill>
                  <a:srgbClr val="FF0000"/>
                </a:solidFill>
                <a:latin typeface="Arial"/>
                <a:cs typeface="Arial"/>
              </a:rPr>
              <a:t>&lt;</a:t>
            </a:r>
            <a:r>
              <a:rPr lang="en-US" altLang="zh-TW" sz="2800" dirty="0" err="1">
                <a:solidFill>
                  <a:srgbClr val="FF0000"/>
                </a:solidFill>
                <a:latin typeface="Arial"/>
                <a:cs typeface="Arial"/>
              </a:rPr>
              <a:t>fieldset</a:t>
            </a:r>
            <a:r>
              <a:rPr lang="en-US" altLang="zh-TW" sz="2800" dirty="0">
                <a:solidFill>
                  <a:srgbClr val="FF0000"/>
                </a:solidFill>
                <a:latin typeface="Arial"/>
                <a:cs typeface="Arial"/>
              </a:rPr>
              <a:t>&gt;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zh-TW" altLang="en-US" sz="2400" dirty="0">
                <a:latin typeface="Arial"/>
                <a:cs typeface="Arial"/>
              </a:rPr>
              <a:t>用來對表單 </a:t>
            </a:r>
            <a:r>
              <a:rPr lang="en-US" altLang="zh-TW" sz="2400" dirty="0">
                <a:latin typeface="Arial"/>
                <a:cs typeface="Arial"/>
              </a:rPr>
              <a:t>(form) </a:t>
            </a:r>
            <a:r>
              <a:rPr lang="zh-TW" altLang="en-US" sz="2400" dirty="0">
                <a:latin typeface="Arial"/>
                <a:cs typeface="Arial"/>
              </a:rPr>
              <a:t>中的控制元件做分組 </a:t>
            </a:r>
            <a:r>
              <a:rPr lang="en-US" altLang="zh-TW" sz="2400" dirty="0">
                <a:latin typeface="Arial"/>
                <a:cs typeface="Arial"/>
              </a:rPr>
              <a:t>(group)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Char char="u"/>
            </a:pPr>
            <a:r>
              <a:rPr lang="en-US" altLang="zh-TW" sz="2800" dirty="0">
                <a:solidFill>
                  <a:srgbClr val="FF0000"/>
                </a:solidFill>
                <a:latin typeface="Arial"/>
                <a:cs typeface="Arial"/>
              </a:rPr>
              <a:t>&lt;legend&gt;</a:t>
            </a:r>
          </a:p>
          <a:p>
            <a:pPr marL="571500" lvl="1" indent="-34290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itchFamily="2" charset="2"/>
              <a:buChar char="Ø"/>
            </a:pPr>
            <a:r>
              <a:rPr lang="en-US" altLang="zh-TW" sz="2400" dirty="0">
                <a:latin typeface="Arial"/>
                <a:cs typeface="Arial"/>
              </a:rPr>
              <a:t>&lt;</a:t>
            </a:r>
            <a:r>
              <a:rPr lang="en-US" altLang="zh-TW" sz="2400" dirty="0" err="1">
                <a:latin typeface="Arial"/>
                <a:cs typeface="Arial"/>
              </a:rPr>
              <a:t>fieldset</a:t>
            </a:r>
            <a:r>
              <a:rPr lang="en-US" altLang="zh-TW" sz="2400" dirty="0">
                <a:latin typeface="Arial"/>
                <a:cs typeface="Arial"/>
              </a:rPr>
              <a:t>&gt; </a:t>
            </a:r>
            <a:r>
              <a:rPr lang="zh-TW" altLang="en-US" sz="2400" dirty="0">
                <a:latin typeface="Arial"/>
                <a:cs typeface="Arial"/>
              </a:rPr>
              <a:t>裡面的第一個元素，作為該分組的標題 </a:t>
            </a:r>
            <a:r>
              <a:rPr lang="en-US" altLang="zh-TW" sz="2400" dirty="0">
                <a:latin typeface="Arial"/>
                <a:cs typeface="Arial"/>
              </a:rPr>
              <a:t>(caption)</a:t>
            </a:r>
          </a:p>
        </p:txBody>
      </p:sp>
    </p:spTree>
    <p:extLst>
      <p:ext uri="{BB962C8B-B14F-4D97-AF65-F5344CB8AC3E}">
        <p14:creationId xmlns:p14="http://schemas.microsoft.com/office/powerpoint/2010/main" val="3809992602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36715132_TF10001108.potx" id="{2936D2D2-BC60-48FB-9A7C-05EC47E6CC79}" vid="{78682B59-A957-44C7-AAB7-10BBFA6A1ABE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1258</TotalTime>
  <Words>816</Words>
  <Application>Microsoft Macintosh PowerPoint</Application>
  <PresentationFormat>寬螢幕</PresentationFormat>
  <Paragraphs>73</Paragraphs>
  <Slides>8</Slides>
  <Notes>8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8</vt:i4>
      </vt:variant>
    </vt:vector>
  </HeadingPairs>
  <TitlesOfParts>
    <vt:vector size="13" baseType="lpstr">
      <vt:lpstr>Microsoft JhengHei UI</vt:lpstr>
      <vt:lpstr>Arial</vt:lpstr>
      <vt:lpstr>Calibri</vt:lpstr>
      <vt:lpstr>Wingdings</vt:lpstr>
      <vt:lpstr>WelcomeDoc</vt:lpstr>
      <vt:lpstr>HTML 表單 (form)</vt:lpstr>
      <vt:lpstr>&lt;form&gt; 標籤 (tag)</vt:lpstr>
      <vt:lpstr>HTML 表單元素 - &lt;input&gt;</vt:lpstr>
      <vt:lpstr>HTML 表單元素 - &lt;input&gt;</vt:lpstr>
      <vt:lpstr>HTML 表單元素 - &lt;input&gt;</vt:lpstr>
      <vt:lpstr>HTML 表單元素 - &lt;textarea&gt; </vt:lpstr>
      <vt:lpstr>HTML 下拉式選單</vt:lpstr>
      <vt:lpstr>HTML 表單控制元件分組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激發靈感的 50 套網頁配色方案</dc:title>
  <dc:creator>亞東技術學院資管系</dc:creator>
  <cp:lastModifiedBy>研究發展處 研究與產學合作組 葉乙璇組長</cp:lastModifiedBy>
  <cp:revision>100</cp:revision>
  <dcterms:created xsi:type="dcterms:W3CDTF">2020-03-15T14:10:10Z</dcterms:created>
  <dcterms:modified xsi:type="dcterms:W3CDTF">2020-11-26T14:38:58Z</dcterms:modified>
</cp:coreProperties>
</file>